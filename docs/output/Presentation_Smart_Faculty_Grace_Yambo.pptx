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Mesdames et Messieurs les membres du jury.
Je m’appelle Grâce Yambo, et aujourd’hui j’ai le plaisir de vous présenter mon projet intitulé Smart Faculty.
Smart Faculty est une application conçue pour faciliter la gestion d’une faculté.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observant le fonctionnement de plusieurs établissements, j’ai remarqué que beaucoup de tâches sont encore réalisées manuellement.
Les étudiants perdent souvent du temps pour obtenir une information. Les enseignants effectuent plusieurs tâches répétitives. L’administration rencontre parfois des difficultés dans le suivi des activités académiques.
Le problème central est donc la dispersion de l’information et des opérations.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à partir de ce constat que j’ai développé Smart Faculty.
La plateforme réunit dans une seule application les principaux acteurs d’une faculté et les principales opérations académiques. Chaque utilisateur possède un espace adapté à son rôle, mais tous travaillent avec une information centralisée, cohérente et sécurisée.
La promesse tient en trois verbes : centraliser, automatiser et sécuriser.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fonctionnalités principales couvrent les tableaux de bord, les notes et résultats, la valve académique, les présences, les réclamations ainsi que les projets et encadrements.
Techniquement, l’application repose sur Flutter pour l’interface, Python avec FastAPI pour l’API et la logique métier, et MySQL pour la base de données. L’accès est sécurisé et adapté au rôle de chaque 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maintenant faire une démonstration du fonctionnement.
Je commencerai par la connexion selon un rôle, puis le tableau de bord personnalisé. Ensuite, je réaliserai une opération concrète — par exemple consulter une annonce, gérer une note ou suivre une présence — et je terminerai par la vérification du résultat.
Smart Faculty permet ainsi de gagner du temps, de mieux suivre les activités et de rendre l’information académique plus accessible. Je vous remercie pour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MART_FACULTY">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47A5A"/>
          </a:solidFill>
          <a:ln w="12700">
            <a:solidFill>
              <a:srgbClr val="C47A5A"/>
            </a:solidFill>
            <a:prstDash val="solid"/>
          </a:ln>
        </p:spPr>
      </p:sp>
      <p:sp>
        <p:nvSpPr>
          <p:cNvPr id="3" name="Text 1"/>
          <p:cNvSpPr/>
          <p:nvPr/>
        </p:nvSpPr>
        <p:spPr>
          <a:xfrm>
            <a:off x="566928" y="6473952"/>
            <a:ext cx="2194560" cy="164592"/>
          </a:xfrm>
          <a:prstGeom prst="rect">
            <a:avLst/>
          </a:prstGeom>
          <a:noFill/>
          <a:ln/>
        </p:spPr>
        <p:txBody>
          <a:bodyPr wrap="square" lIns="0" tIns="0" rIns="0" bIns="0" rtlCol="0" anchor="ctr"/>
          <a:lstStyle/>
          <a:p>
            <a:pPr indent="0" marL="0">
              <a:buNone/>
            </a:pPr>
            <a:r>
              <a:rPr lang="en-US" sz="680" b="1" spc="180" kern="0" dirty="0">
                <a:solidFill>
                  <a:srgbClr val="795548"/>
                </a:solidFill>
                <a:latin typeface="Segoe UI" pitchFamily="34" charset="0"/>
                <a:ea typeface="Segoe UI" pitchFamily="34" charset="-122"/>
                <a:cs typeface="Segoe UI" pitchFamily="34" charset="-120"/>
              </a:rPr>
              <a:t>SMART FACULTY</a:t>
            </a:r>
            <a:endParaRPr lang="en-US" sz="680" dirty="0"/>
          </a:p>
        </p:txBody>
      </p:sp>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7452360" y="0"/>
            <a:ext cx="4736592" cy="6858000"/>
          </a:xfrm>
          <a:prstGeom prst="rect">
            <a:avLst/>
          </a:prstGeom>
          <a:solidFill>
            <a:srgbClr val="5D4037"/>
          </a:solidFill>
          <a:ln w="12700">
            <a:solidFill>
              <a:srgbClr val="5D4037"/>
            </a:solidFill>
            <a:prstDash val="solid"/>
          </a:ln>
        </p:spPr>
      </p:sp>
      <p:sp>
        <p:nvSpPr>
          <p:cNvPr id="3" name="Shape 1"/>
          <p:cNvSpPr/>
          <p:nvPr/>
        </p:nvSpPr>
        <p:spPr>
          <a:xfrm rot="1320000">
            <a:off x="7808976" y="521208"/>
            <a:ext cx="4069080" cy="4069080"/>
          </a:xfrm>
          <a:prstGeom prst="arc">
            <a:avLst/>
          </a:prstGeom>
          <a:solidFill>
            <a:srgbClr val="5D4037">
              <a:alpha val="0"/>
            </a:srgbClr>
          </a:solidFill>
          <a:ln w="21590">
            <a:solidFill>
              <a:srgbClr val="C47A5A">
                <a:alpha val="70000"/>
              </a:srgbClr>
            </a:solidFill>
            <a:prstDash val="solid"/>
          </a:ln>
        </p:spPr>
      </p:sp>
      <p:sp>
        <p:nvSpPr>
          <p:cNvPr id="4" name="Shape 2"/>
          <p:cNvSpPr/>
          <p:nvPr/>
        </p:nvSpPr>
        <p:spPr>
          <a:xfrm rot="12300000">
            <a:off x="8247888" y="950976"/>
            <a:ext cx="3191256" cy="3191256"/>
          </a:xfrm>
          <a:prstGeom prst="arc">
            <a:avLst/>
          </a:prstGeom>
          <a:solidFill>
            <a:srgbClr val="5D4037">
              <a:alpha val="0"/>
            </a:srgbClr>
          </a:solidFill>
          <a:ln w="13970">
            <a:solidFill>
              <a:srgbClr val="F5EFE6">
                <a:alpha val="55000"/>
              </a:srgbClr>
            </a:solidFill>
            <a:prstDash val="solid"/>
          </a:ln>
        </p:spPr>
      </p:sp>
      <p:sp>
        <p:nvSpPr>
          <p:cNvPr id="5" name="Shape 3"/>
          <p:cNvSpPr/>
          <p:nvPr/>
        </p:nvSpPr>
        <p:spPr>
          <a:xfrm>
            <a:off x="8979408" y="1673352"/>
            <a:ext cx="1737360" cy="1737360"/>
          </a:xfrm>
          <a:prstGeom prst="ellipse">
            <a:avLst/>
          </a:prstGeom>
          <a:solidFill>
            <a:srgbClr val="C47A5A"/>
          </a:solidFill>
          <a:ln w="12700">
            <a:solidFill>
              <a:srgbClr val="C47A5A"/>
            </a:solidFill>
            <a:prstDash val="solid"/>
          </a:ln>
        </p:spPr>
      </p:sp>
      <p:sp>
        <p:nvSpPr>
          <p:cNvPr id="6" name="Text 4"/>
          <p:cNvSpPr/>
          <p:nvPr/>
        </p:nvSpPr>
        <p:spPr>
          <a:xfrm>
            <a:off x="8979408" y="1664208"/>
            <a:ext cx="1737360" cy="173736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Segoe UI" pitchFamily="34" charset="0"/>
                <a:ea typeface="Segoe UI" pitchFamily="34" charset="-122"/>
                <a:cs typeface="Segoe UI" pitchFamily="34" charset="-120"/>
              </a:rPr>
              <a:t>SF</a:t>
            </a:r>
            <a:endParaRPr lang="en-US" sz="3400" dirty="0"/>
          </a:p>
        </p:txBody>
      </p:sp>
      <p:sp>
        <p:nvSpPr>
          <p:cNvPr id="7" name="Shape 5"/>
          <p:cNvSpPr/>
          <p:nvPr/>
        </p:nvSpPr>
        <p:spPr>
          <a:xfrm>
            <a:off x="612648" y="621792"/>
            <a:ext cx="2212848" cy="310896"/>
          </a:xfrm>
          <a:prstGeom prst="roundRect">
            <a:avLst>
              <a:gd name="adj" fmla="val 50000"/>
            </a:avLst>
          </a:prstGeom>
          <a:solidFill>
            <a:srgbClr val="F5EFE6"/>
          </a:solidFill>
          <a:ln w="12700">
            <a:solidFill>
              <a:srgbClr val="F5EFE6"/>
            </a:solidFill>
            <a:prstDash val="solid"/>
          </a:ln>
        </p:spPr>
      </p:sp>
      <p:sp>
        <p:nvSpPr>
          <p:cNvPr id="8" name="Text 6"/>
          <p:cNvSpPr/>
          <p:nvPr/>
        </p:nvSpPr>
        <p:spPr>
          <a:xfrm>
            <a:off x="685800" y="630936"/>
            <a:ext cx="2066544" cy="283464"/>
          </a:xfrm>
          <a:prstGeom prst="rect">
            <a:avLst/>
          </a:prstGeom>
          <a:noFill/>
          <a:ln/>
        </p:spPr>
        <p:txBody>
          <a:bodyPr wrap="square" lIns="0" tIns="0" rIns="0" bIns="0" rtlCol="0" anchor="ctr">
            <a:normAutofit/>
          </a:bodyPr>
          <a:lstStyle/>
          <a:p>
            <a:pPr algn="ctr" indent="0" marL="0">
              <a:buNone/>
            </a:pPr>
            <a:r>
              <a:rPr lang="en-US" sz="820" b="1" dirty="0">
                <a:solidFill>
                  <a:srgbClr val="5D4037"/>
                </a:solidFill>
                <a:latin typeface="Segoe UI" pitchFamily="34" charset="0"/>
                <a:ea typeface="Segoe UI" pitchFamily="34" charset="-122"/>
                <a:cs typeface="Segoe UI" pitchFamily="34" charset="-120"/>
              </a:rPr>
              <a:t>SOUTENANCE · PROJET L2</a:t>
            </a:r>
            <a:endParaRPr lang="en-US" sz="820" dirty="0"/>
          </a:p>
        </p:txBody>
      </p:sp>
      <p:sp>
        <p:nvSpPr>
          <p:cNvPr id="9" name="Text 7"/>
          <p:cNvSpPr/>
          <p:nvPr/>
        </p:nvSpPr>
        <p:spPr>
          <a:xfrm>
            <a:off x="585216" y="1353312"/>
            <a:ext cx="6263640" cy="1508760"/>
          </a:xfrm>
          <a:prstGeom prst="rect">
            <a:avLst/>
          </a:prstGeom>
          <a:noFill/>
          <a:ln/>
        </p:spPr>
        <p:txBody>
          <a:bodyPr wrap="square" lIns="0" tIns="0" rIns="0" bIns="0" rtlCol="0" anchor="t">
            <a:normAutofit/>
          </a:bodyPr>
          <a:lstStyle/>
          <a:p>
            <a:pPr indent="0" marL="0">
              <a:lnSpc>
                <a:spcPct val="86000"/>
              </a:lnSpc>
              <a:buNone/>
            </a:pPr>
            <a:r>
              <a:rPr lang="en-US" sz="4700" b="1" dirty="0">
                <a:solidFill>
                  <a:srgbClr val="5D4037"/>
                </a:solidFill>
                <a:latin typeface="Segoe UI" pitchFamily="34" charset="0"/>
                <a:ea typeface="Segoe UI" pitchFamily="34" charset="-122"/>
                <a:cs typeface="Segoe UI" pitchFamily="34" charset="-120"/>
              </a:rPr>
              <a:t>Smart</a:t>
            </a:r>
            <a:endParaRPr lang="en-US" sz="4700" dirty="0"/>
          </a:p>
          <a:p>
            <a:pPr indent="0" marL="0">
              <a:lnSpc>
                <a:spcPct val="86000"/>
              </a:lnSpc>
              <a:buNone/>
            </a:pPr>
            <a:r>
              <a:rPr lang="en-US" sz="4700" b="1" dirty="0">
                <a:solidFill>
                  <a:srgbClr val="5D4037"/>
                </a:solidFill>
                <a:latin typeface="Segoe UI" pitchFamily="34" charset="0"/>
                <a:ea typeface="Segoe UI" pitchFamily="34" charset="-122"/>
                <a:cs typeface="Segoe UI" pitchFamily="34" charset="-120"/>
              </a:rPr>
              <a:t>Faculty</a:t>
            </a:r>
            <a:endParaRPr lang="en-US" sz="4700" dirty="0"/>
          </a:p>
        </p:txBody>
      </p:sp>
      <p:sp>
        <p:nvSpPr>
          <p:cNvPr id="10" name="Shape 8"/>
          <p:cNvSpPr/>
          <p:nvPr/>
        </p:nvSpPr>
        <p:spPr>
          <a:xfrm>
            <a:off x="612648" y="3127248"/>
            <a:ext cx="1143000" cy="0"/>
          </a:xfrm>
          <a:prstGeom prst="line">
            <a:avLst/>
          </a:prstGeom>
          <a:noFill/>
          <a:ln w="38100">
            <a:solidFill>
              <a:srgbClr val="C47A5A"/>
            </a:solidFill>
            <a:prstDash val="solid"/>
          </a:ln>
        </p:spPr>
      </p:sp>
      <p:sp>
        <p:nvSpPr>
          <p:cNvPr id="11" name="Text 9"/>
          <p:cNvSpPr/>
          <p:nvPr/>
        </p:nvSpPr>
        <p:spPr>
          <a:xfrm>
            <a:off x="612648" y="3364992"/>
            <a:ext cx="6035040" cy="914400"/>
          </a:xfrm>
          <a:prstGeom prst="rect">
            <a:avLst/>
          </a:prstGeom>
          <a:noFill/>
          <a:ln/>
        </p:spPr>
        <p:txBody>
          <a:bodyPr wrap="square" lIns="0" tIns="0" rIns="0" bIns="0" rtlCol="0" anchor="t">
            <a:normAutofit/>
          </a:bodyPr>
          <a:lstStyle/>
          <a:p>
            <a:pPr indent="0" marL="0">
              <a:lnSpc>
                <a:spcPct val="92000"/>
              </a:lnSpc>
              <a:buNone/>
            </a:pPr>
            <a:r>
              <a:rPr lang="en-US" sz="2100" b="1" dirty="0">
                <a:solidFill>
                  <a:srgbClr val="2F2522"/>
                </a:solidFill>
                <a:latin typeface="Segoe UI" pitchFamily="34" charset="0"/>
                <a:ea typeface="Segoe UI" pitchFamily="34" charset="-122"/>
                <a:cs typeface="Segoe UI" pitchFamily="34" charset="-120"/>
              </a:rPr>
              <a:t>La gestion académique,</a:t>
            </a:r>
            <a:endParaRPr lang="en-US" sz="2100" dirty="0"/>
          </a:p>
          <a:p>
            <a:pPr indent="0" marL="0">
              <a:lnSpc>
                <a:spcPct val="92000"/>
              </a:lnSpc>
              <a:buNone/>
            </a:pPr>
            <a:r>
              <a:rPr lang="en-US" sz="2100" b="1" dirty="0">
                <a:solidFill>
                  <a:srgbClr val="2F2522"/>
                </a:solidFill>
                <a:latin typeface="Segoe UI" pitchFamily="34" charset="0"/>
                <a:ea typeface="Segoe UI" pitchFamily="34" charset="-122"/>
                <a:cs typeface="Segoe UI" pitchFamily="34" charset="-120"/>
              </a:rPr>
              <a:t>réunie dans une seule application.</a:t>
            </a:r>
            <a:endParaRPr lang="en-US" sz="2100" dirty="0"/>
          </a:p>
        </p:txBody>
      </p:sp>
      <p:sp>
        <p:nvSpPr>
          <p:cNvPr id="12" name="Text 10"/>
          <p:cNvSpPr/>
          <p:nvPr/>
        </p:nvSpPr>
        <p:spPr>
          <a:xfrm>
            <a:off x="621792" y="4965192"/>
            <a:ext cx="3108960" cy="347472"/>
          </a:xfrm>
          <a:prstGeom prst="rect">
            <a:avLst/>
          </a:prstGeom>
          <a:noFill/>
          <a:ln/>
        </p:spPr>
        <p:txBody>
          <a:bodyPr wrap="square" lIns="0" tIns="0" rIns="0" bIns="0" rtlCol="0" anchor="ctr">
            <a:normAutofit/>
          </a:bodyPr>
          <a:lstStyle/>
          <a:p>
            <a:pPr indent="0" marL="0">
              <a:buNone/>
            </a:pPr>
            <a:r>
              <a:rPr lang="en-US" sz="1500" b="1" dirty="0">
                <a:solidFill>
                  <a:srgbClr val="5D4037"/>
                </a:solidFill>
                <a:latin typeface="Segoe UI" pitchFamily="34" charset="0"/>
                <a:ea typeface="Segoe UI" pitchFamily="34" charset="-122"/>
                <a:cs typeface="Segoe UI" pitchFamily="34" charset="-120"/>
              </a:rPr>
              <a:t>Grâce Yambo</a:t>
            </a:r>
            <a:endParaRPr lang="en-US" sz="1500" dirty="0"/>
          </a:p>
        </p:txBody>
      </p:sp>
      <p:sp>
        <p:nvSpPr>
          <p:cNvPr id="13" name="Text 11"/>
          <p:cNvSpPr/>
          <p:nvPr/>
        </p:nvSpPr>
        <p:spPr>
          <a:xfrm>
            <a:off x="621792" y="5340096"/>
            <a:ext cx="3383280" cy="246888"/>
          </a:xfrm>
          <a:prstGeom prst="rect">
            <a:avLst/>
          </a:prstGeom>
          <a:noFill/>
          <a:ln/>
        </p:spPr>
        <p:txBody>
          <a:bodyPr wrap="square" lIns="0" tIns="0" rIns="0" bIns="0" rtlCol="0" anchor="ctr">
            <a:normAutofit/>
          </a:bodyPr>
          <a:lstStyle/>
          <a:p>
            <a:pPr indent="0" marL="0">
              <a:buNone/>
            </a:pPr>
            <a:r>
              <a:rPr lang="en-US" sz="950" dirty="0">
                <a:solidFill>
                  <a:srgbClr val="6D625D"/>
                </a:solidFill>
                <a:latin typeface="Segoe UI" pitchFamily="34" charset="0"/>
                <a:ea typeface="Segoe UI" pitchFamily="34" charset="-122"/>
                <a:cs typeface="Segoe UI" pitchFamily="34" charset="-120"/>
              </a:rPr>
              <a:t>Conception et développement</a:t>
            </a:r>
            <a:endParaRPr lang="en-US" sz="950" dirty="0"/>
          </a:p>
        </p:txBody>
      </p:sp>
      <p:sp>
        <p:nvSpPr>
          <p:cNvPr id="14" name="Text 12"/>
          <p:cNvSpPr/>
          <p:nvPr/>
        </p:nvSpPr>
        <p:spPr>
          <a:xfrm>
            <a:off x="7909560" y="6016752"/>
            <a:ext cx="3703320" cy="246888"/>
          </a:xfrm>
          <a:prstGeom prst="rect">
            <a:avLst/>
          </a:prstGeom>
          <a:noFill/>
          <a:ln/>
        </p:spPr>
        <p:txBody>
          <a:bodyPr wrap="square" lIns="0" tIns="0" rIns="0" bIns="0" rtlCol="0" anchor="ctr">
            <a:normAutofit/>
          </a:bodyPr>
          <a:lstStyle/>
          <a:p>
            <a:pPr algn="ctr" indent="0" marL="0">
              <a:buNone/>
            </a:pPr>
            <a:r>
              <a:rPr lang="en-US" sz="770" b="1" spc="135" kern="0" dirty="0">
                <a:solidFill>
                  <a:srgbClr val="F5EFE6"/>
                </a:solidFill>
                <a:latin typeface="Segoe UI" pitchFamily="34" charset="0"/>
                <a:ea typeface="Segoe UI" pitchFamily="34" charset="-122"/>
                <a:cs typeface="Segoe UI" pitchFamily="34" charset="-120"/>
              </a:rPr>
              <a:t>5 SLIDES  ·  1 VISION  ·  1 DÉMONSTRATION</a:t>
            </a:r>
            <a:endParaRPr lang="en-US" sz="770" dirty="0"/>
          </a:p>
        </p:txBody>
      </p:sp>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4206240" cy="228600"/>
          </a:xfrm>
          <a:prstGeom prst="rect">
            <a:avLst/>
          </a:prstGeom>
          <a:noFill/>
          <a:ln/>
        </p:spPr>
        <p:txBody>
          <a:bodyPr wrap="square" lIns="0" tIns="0" rIns="0" bIns="0" rtlCol="0" anchor="ctr">
            <a:normAutofit/>
          </a:bodyPr>
          <a:lstStyle/>
          <a:p>
            <a:pPr indent="0" marL="0">
              <a:buNone/>
            </a:pPr>
            <a:r>
              <a:rPr lang="en-US" sz="800" b="1" spc="220" kern="0" dirty="0">
                <a:solidFill>
                  <a:srgbClr val="C47A5A"/>
                </a:solidFill>
                <a:latin typeface="Segoe UI" pitchFamily="34" charset="0"/>
                <a:ea typeface="Segoe UI" pitchFamily="34" charset="-122"/>
                <a:cs typeface="Segoe UI" pitchFamily="34" charset="-120"/>
              </a:rPr>
              <a:t>01 — LE CONSTAT</a:t>
            </a:r>
            <a:endParaRPr lang="en-US" sz="800" dirty="0"/>
          </a:p>
        </p:txBody>
      </p:sp>
      <p:sp>
        <p:nvSpPr>
          <p:cNvPr id="3" name="Text 1"/>
          <p:cNvSpPr/>
          <p:nvPr/>
        </p:nvSpPr>
        <p:spPr>
          <a:xfrm>
            <a:off x="566928" y="667512"/>
            <a:ext cx="10881360" cy="566928"/>
          </a:xfrm>
          <a:prstGeom prst="rect">
            <a:avLst/>
          </a:prstGeom>
          <a:noFill/>
          <a:ln/>
        </p:spPr>
        <p:txBody>
          <a:bodyPr wrap="square" lIns="0" tIns="0" rIns="0" bIns="0" rtlCol="0" anchor="ctr">
            <a:normAutofit/>
          </a:bodyPr>
          <a:lstStyle/>
          <a:p>
            <a:pPr indent="0" marL="0">
              <a:buNone/>
            </a:pPr>
            <a:r>
              <a:rPr lang="en-US" sz="2700" b="1" dirty="0">
                <a:solidFill>
                  <a:srgbClr val="2F2522"/>
                </a:solidFill>
                <a:latin typeface="Segoe UI" pitchFamily="34" charset="0"/>
                <a:ea typeface="Segoe UI" pitchFamily="34" charset="-122"/>
                <a:cs typeface="Segoe UI" pitchFamily="34" charset="-120"/>
              </a:rPr>
              <a:t>Une faculté active… mais encore trop manuelle</a:t>
            </a:r>
            <a:endParaRPr lang="en-US" sz="2700" dirty="0"/>
          </a:p>
        </p:txBody>
      </p:sp>
      <p:sp>
        <p:nvSpPr>
          <p:cNvPr id="4" name="Text 2"/>
          <p:cNvSpPr/>
          <p:nvPr/>
        </p:nvSpPr>
        <p:spPr>
          <a:xfrm>
            <a:off x="585216" y="1261872"/>
            <a:ext cx="10515600" cy="329184"/>
          </a:xfrm>
          <a:prstGeom prst="rect">
            <a:avLst/>
          </a:prstGeom>
          <a:noFill/>
          <a:ln/>
        </p:spPr>
        <p:txBody>
          <a:bodyPr wrap="square" lIns="0" tIns="0" rIns="0" bIns="0" rtlCol="0" anchor="ctr">
            <a:normAutofit/>
          </a:bodyPr>
          <a:lstStyle/>
          <a:p>
            <a:pPr indent="0" marL="0">
              <a:buNone/>
            </a:pPr>
            <a:r>
              <a:rPr lang="en-US" sz="1120" dirty="0">
                <a:solidFill>
                  <a:srgbClr val="6D625D"/>
                </a:solidFill>
                <a:latin typeface="Segoe UI" pitchFamily="34" charset="0"/>
                <a:ea typeface="Segoe UI" pitchFamily="34" charset="-122"/>
                <a:cs typeface="Segoe UI" pitchFamily="34" charset="-120"/>
              </a:rPr>
              <a:t>Quand l’information circule mal, chaque acteur perd du temps.</a:t>
            </a:r>
            <a:endParaRPr lang="en-US" sz="1120" dirty="0"/>
          </a:p>
        </p:txBody>
      </p:sp>
      <p:sp>
        <p:nvSpPr>
          <p:cNvPr id="5" name="Shape 3"/>
          <p:cNvSpPr/>
          <p:nvPr/>
        </p:nvSpPr>
        <p:spPr>
          <a:xfrm>
            <a:off x="566928" y="1847088"/>
            <a:ext cx="3657600" cy="4069080"/>
          </a:xfrm>
          <a:prstGeom prst="roundRect">
            <a:avLst>
              <a:gd name="adj" fmla="val 4500"/>
            </a:avLst>
          </a:prstGeom>
          <a:solidFill>
            <a:srgbClr val="5D4037"/>
          </a:solidFill>
          <a:ln w="12700">
            <a:solidFill>
              <a:srgbClr val="5D4037"/>
            </a:solidFill>
            <a:prstDash val="solid"/>
          </a:ln>
        </p:spPr>
      </p:sp>
      <p:sp>
        <p:nvSpPr>
          <p:cNvPr id="6" name="Text 4"/>
          <p:cNvSpPr/>
          <p:nvPr/>
        </p:nvSpPr>
        <p:spPr>
          <a:xfrm>
            <a:off x="932688" y="2103120"/>
            <a:ext cx="914400" cy="868680"/>
          </a:xfrm>
          <a:prstGeom prst="rect">
            <a:avLst/>
          </a:prstGeom>
          <a:noFill/>
          <a:ln/>
        </p:spPr>
        <p:txBody>
          <a:bodyPr wrap="square" lIns="0" tIns="0" rIns="0" bIns="0" rtlCol="0" anchor="ctr">
            <a:normAutofit/>
          </a:bodyPr>
          <a:lstStyle/>
          <a:p>
            <a:pPr indent="0" marL="0">
              <a:buNone/>
            </a:pPr>
            <a:r>
              <a:rPr lang="en-US" sz="4800" b="1" dirty="0">
                <a:solidFill>
                  <a:srgbClr val="C47A5A"/>
                </a:solidFill>
                <a:latin typeface="Segoe UI" pitchFamily="34" charset="0"/>
                <a:ea typeface="Segoe UI" pitchFamily="34" charset="-122"/>
                <a:cs typeface="Segoe UI" pitchFamily="34" charset="-120"/>
              </a:rPr>
              <a:t>3</a:t>
            </a:r>
            <a:endParaRPr lang="en-US" sz="4800" dirty="0"/>
          </a:p>
        </p:txBody>
      </p:sp>
      <p:sp>
        <p:nvSpPr>
          <p:cNvPr id="7" name="Text 5"/>
          <p:cNvSpPr/>
          <p:nvPr/>
        </p:nvSpPr>
        <p:spPr>
          <a:xfrm>
            <a:off x="1847088" y="2331720"/>
            <a:ext cx="1600200" cy="40233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Segoe UI" pitchFamily="34" charset="0"/>
                <a:ea typeface="Segoe UI" pitchFamily="34" charset="-122"/>
                <a:cs typeface="Segoe UI" pitchFamily="34" charset="-120"/>
              </a:rPr>
              <a:t>acteurs</a:t>
            </a:r>
            <a:endParaRPr lang="en-US" sz="2000" dirty="0"/>
          </a:p>
        </p:txBody>
      </p:sp>
      <p:sp>
        <p:nvSpPr>
          <p:cNvPr id="8" name="Text 6"/>
          <p:cNvSpPr/>
          <p:nvPr/>
        </p:nvSpPr>
        <p:spPr>
          <a:xfrm>
            <a:off x="932688" y="3054096"/>
            <a:ext cx="2651760" cy="5029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Segoe UI" pitchFamily="34" charset="0"/>
                <a:ea typeface="Segoe UI" pitchFamily="34" charset="-122"/>
                <a:cs typeface="Segoe UI" pitchFamily="34" charset="-120"/>
              </a:rPr>
              <a:t>1 même friction</a:t>
            </a:r>
            <a:endParaRPr lang="en-US" sz="2400" dirty="0"/>
          </a:p>
        </p:txBody>
      </p:sp>
      <p:sp>
        <p:nvSpPr>
          <p:cNvPr id="9" name="Text 7"/>
          <p:cNvSpPr/>
          <p:nvPr/>
        </p:nvSpPr>
        <p:spPr>
          <a:xfrm>
            <a:off x="932688" y="3767328"/>
            <a:ext cx="2606040" cy="960120"/>
          </a:xfrm>
          <a:prstGeom prst="rect">
            <a:avLst/>
          </a:prstGeom>
          <a:noFill/>
          <a:ln/>
        </p:spPr>
        <p:txBody>
          <a:bodyPr wrap="square" lIns="0" tIns="0" rIns="0" bIns="0" rtlCol="0" anchor="t">
            <a:normAutofit/>
          </a:bodyPr>
          <a:lstStyle/>
          <a:p>
            <a:pPr indent="0" marL="0">
              <a:lnSpc>
                <a:spcPct val="105000"/>
              </a:lnSpc>
              <a:buNone/>
            </a:pPr>
            <a:r>
              <a:rPr lang="en-US" sz="1330" dirty="0">
                <a:solidFill>
                  <a:srgbClr val="F5EFE6"/>
                </a:solidFill>
                <a:latin typeface="Segoe UI" pitchFamily="34" charset="0"/>
                <a:ea typeface="Segoe UI" pitchFamily="34" charset="-122"/>
                <a:cs typeface="Segoe UI" pitchFamily="34" charset="-120"/>
              </a:rPr>
              <a:t>L’information est dispersée entre papiers, messages et traitements répétitifs.</a:t>
            </a:r>
            <a:endParaRPr lang="en-US" sz="1330" dirty="0"/>
          </a:p>
        </p:txBody>
      </p:sp>
      <p:sp>
        <p:nvSpPr>
          <p:cNvPr id="10" name="Shape 8"/>
          <p:cNvSpPr/>
          <p:nvPr/>
        </p:nvSpPr>
        <p:spPr>
          <a:xfrm>
            <a:off x="932688" y="5010912"/>
            <a:ext cx="2423160" cy="0"/>
          </a:xfrm>
          <a:prstGeom prst="line">
            <a:avLst/>
          </a:prstGeom>
          <a:noFill/>
          <a:ln w="25400">
            <a:solidFill>
              <a:srgbClr val="C47A5A"/>
            </a:solidFill>
            <a:prstDash val="solid"/>
          </a:ln>
        </p:spPr>
      </p:sp>
      <p:sp>
        <p:nvSpPr>
          <p:cNvPr id="11" name="Text 9"/>
          <p:cNvSpPr/>
          <p:nvPr/>
        </p:nvSpPr>
        <p:spPr>
          <a:xfrm>
            <a:off x="932688" y="5193792"/>
            <a:ext cx="2651760" cy="457200"/>
          </a:xfrm>
          <a:prstGeom prst="rect">
            <a:avLst/>
          </a:prstGeom>
          <a:noFill/>
          <a:ln/>
        </p:spPr>
        <p:txBody>
          <a:bodyPr wrap="square" lIns="0" tIns="0" rIns="0" bIns="0" rtlCol="0" anchor="ctr">
            <a:normAutofit/>
          </a:bodyPr>
          <a:lstStyle/>
          <a:p>
            <a:pPr indent="0" marL="0">
              <a:buNone/>
            </a:pPr>
            <a:r>
              <a:rPr lang="en-US" sz="960" b="1" dirty="0">
                <a:solidFill>
                  <a:srgbClr val="FFFFFF"/>
                </a:solidFill>
                <a:latin typeface="Segoe UI" pitchFamily="34" charset="0"/>
                <a:ea typeface="Segoe UI" pitchFamily="34" charset="-122"/>
                <a:cs typeface="Segoe UI" pitchFamily="34" charset="-120"/>
              </a:rPr>
              <a:t>Résultat : lenteur • erreurs • manque de visibilité</a:t>
            </a:r>
            <a:endParaRPr lang="en-US" sz="960" dirty="0"/>
          </a:p>
        </p:txBody>
      </p:sp>
      <p:sp>
        <p:nvSpPr>
          <p:cNvPr id="12" name="Shape 10"/>
          <p:cNvSpPr/>
          <p:nvPr/>
        </p:nvSpPr>
        <p:spPr>
          <a:xfrm>
            <a:off x="4517136" y="1847088"/>
            <a:ext cx="7095744" cy="1078992"/>
          </a:xfrm>
          <a:prstGeom prst="roundRect">
            <a:avLst>
              <a:gd name="adj" fmla="val 10169"/>
            </a:avLst>
          </a:prstGeom>
          <a:solidFill>
            <a:srgbClr val="FAF4EA"/>
          </a:solidFill>
          <a:ln w="10160">
            <a:solidFill>
              <a:srgbClr val="D8C8B8"/>
            </a:solidFill>
            <a:prstDash val="solid"/>
          </a:ln>
        </p:spPr>
      </p:sp>
      <p:sp>
        <p:nvSpPr>
          <p:cNvPr id="13" name="Shape 11"/>
          <p:cNvSpPr/>
          <p:nvPr/>
        </p:nvSpPr>
        <p:spPr>
          <a:xfrm>
            <a:off x="4782312" y="2121408"/>
            <a:ext cx="512064" cy="512064"/>
          </a:xfrm>
          <a:prstGeom prst="ellipse">
            <a:avLst/>
          </a:prstGeom>
          <a:solidFill>
            <a:srgbClr val="C47A5A"/>
          </a:solidFill>
          <a:ln w="12700">
            <a:solidFill>
              <a:srgbClr val="FFFFFF">
                <a:alpha val="0"/>
              </a:srgbClr>
            </a:solidFill>
            <a:prstDash val="solid"/>
          </a:ln>
        </p:spPr>
      </p:sp>
      <p:sp>
        <p:nvSpPr>
          <p:cNvPr id="14" name="Text 12"/>
          <p:cNvSpPr/>
          <p:nvPr/>
        </p:nvSpPr>
        <p:spPr>
          <a:xfrm>
            <a:off x="4782312" y="2121408"/>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15" name="Text 13"/>
          <p:cNvSpPr/>
          <p:nvPr/>
        </p:nvSpPr>
        <p:spPr>
          <a:xfrm>
            <a:off x="5550408" y="2011680"/>
            <a:ext cx="1920240" cy="320040"/>
          </a:xfrm>
          <a:prstGeom prst="rect">
            <a:avLst/>
          </a:prstGeom>
          <a:noFill/>
          <a:ln/>
        </p:spPr>
        <p:txBody>
          <a:bodyPr wrap="square" lIns="0" tIns="0" rIns="0" bIns="0" rtlCol="0" anchor="ctr">
            <a:normAutofit/>
          </a:bodyPr>
          <a:lstStyle/>
          <a:p>
            <a:pPr indent="0" marL="0">
              <a:buNone/>
            </a:pPr>
            <a:r>
              <a:rPr lang="en-US" sz="1500" b="1" dirty="0">
                <a:solidFill>
                  <a:srgbClr val="2F2522"/>
                </a:solidFill>
                <a:latin typeface="Segoe UI" pitchFamily="34" charset="0"/>
                <a:ea typeface="Segoe UI" pitchFamily="34" charset="-122"/>
                <a:cs typeface="Segoe UI" pitchFamily="34" charset="-120"/>
              </a:rPr>
              <a:t>Étudiants</a:t>
            </a:r>
            <a:endParaRPr lang="en-US" sz="1500" dirty="0"/>
          </a:p>
        </p:txBody>
      </p:sp>
      <p:sp>
        <p:nvSpPr>
          <p:cNvPr id="16" name="Text 14"/>
          <p:cNvSpPr/>
          <p:nvPr/>
        </p:nvSpPr>
        <p:spPr>
          <a:xfrm>
            <a:off x="5559552" y="2368296"/>
            <a:ext cx="5394960" cy="329184"/>
          </a:xfrm>
          <a:prstGeom prst="rect">
            <a:avLst/>
          </a:prstGeom>
          <a:noFill/>
          <a:ln/>
        </p:spPr>
        <p:txBody>
          <a:bodyPr wrap="square" lIns="0" tIns="0" rIns="0" bIns="0" rtlCol="0" anchor="ctr">
            <a:normAutofit/>
          </a:bodyPr>
          <a:lstStyle/>
          <a:p>
            <a:pPr indent="0" marL="0">
              <a:buNone/>
            </a:pPr>
            <a:r>
              <a:rPr lang="en-US" sz="1050" dirty="0">
                <a:solidFill>
                  <a:srgbClr val="6D625D"/>
                </a:solidFill>
                <a:latin typeface="Segoe UI" pitchFamily="34" charset="0"/>
                <a:ea typeface="Segoe UI" pitchFamily="34" charset="-122"/>
                <a:cs typeface="Segoe UI" pitchFamily="34" charset="-120"/>
              </a:rPr>
              <a:t>Attente pour les notes, horaires, annonces et démarches.</a:t>
            </a:r>
            <a:endParaRPr lang="en-US" sz="1050" dirty="0"/>
          </a:p>
        </p:txBody>
      </p:sp>
      <p:sp>
        <p:nvSpPr>
          <p:cNvPr id="17" name="Shape 15"/>
          <p:cNvSpPr/>
          <p:nvPr/>
        </p:nvSpPr>
        <p:spPr>
          <a:xfrm>
            <a:off x="4517136" y="3218688"/>
            <a:ext cx="7095744" cy="1078992"/>
          </a:xfrm>
          <a:prstGeom prst="roundRect">
            <a:avLst>
              <a:gd name="adj" fmla="val 10169"/>
            </a:avLst>
          </a:prstGeom>
          <a:solidFill>
            <a:srgbClr val="FAF4EA"/>
          </a:solidFill>
          <a:ln w="10160">
            <a:solidFill>
              <a:srgbClr val="D8C8B8"/>
            </a:solidFill>
            <a:prstDash val="solid"/>
          </a:ln>
        </p:spPr>
      </p:sp>
      <p:sp>
        <p:nvSpPr>
          <p:cNvPr id="18" name="Shape 16"/>
          <p:cNvSpPr/>
          <p:nvPr/>
        </p:nvSpPr>
        <p:spPr>
          <a:xfrm>
            <a:off x="4782312" y="3493008"/>
            <a:ext cx="512064" cy="512064"/>
          </a:xfrm>
          <a:prstGeom prst="ellipse">
            <a:avLst/>
          </a:prstGeom>
          <a:solidFill>
            <a:srgbClr val="6F8A8A"/>
          </a:solidFill>
          <a:ln w="12700">
            <a:solidFill>
              <a:srgbClr val="FFFFFF">
                <a:alpha val="0"/>
              </a:srgbClr>
            </a:solidFill>
            <a:prstDash val="solid"/>
          </a:ln>
        </p:spPr>
      </p:sp>
      <p:sp>
        <p:nvSpPr>
          <p:cNvPr id="19" name="Text 17"/>
          <p:cNvSpPr/>
          <p:nvPr/>
        </p:nvSpPr>
        <p:spPr>
          <a:xfrm>
            <a:off x="4782312" y="3493008"/>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02</a:t>
            </a:r>
            <a:endParaRPr lang="en-US" sz="1200" dirty="0"/>
          </a:p>
        </p:txBody>
      </p:sp>
      <p:sp>
        <p:nvSpPr>
          <p:cNvPr id="20" name="Text 18"/>
          <p:cNvSpPr/>
          <p:nvPr/>
        </p:nvSpPr>
        <p:spPr>
          <a:xfrm>
            <a:off x="5550408" y="3383280"/>
            <a:ext cx="1920240" cy="320040"/>
          </a:xfrm>
          <a:prstGeom prst="rect">
            <a:avLst/>
          </a:prstGeom>
          <a:noFill/>
          <a:ln/>
        </p:spPr>
        <p:txBody>
          <a:bodyPr wrap="square" lIns="0" tIns="0" rIns="0" bIns="0" rtlCol="0" anchor="ctr">
            <a:normAutofit/>
          </a:bodyPr>
          <a:lstStyle/>
          <a:p>
            <a:pPr indent="0" marL="0">
              <a:buNone/>
            </a:pPr>
            <a:r>
              <a:rPr lang="en-US" sz="1500" b="1" dirty="0">
                <a:solidFill>
                  <a:srgbClr val="2F2522"/>
                </a:solidFill>
                <a:latin typeface="Segoe UI" pitchFamily="34" charset="0"/>
                <a:ea typeface="Segoe UI" pitchFamily="34" charset="-122"/>
                <a:cs typeface="Segoe UI" pitchFamily="34" charset="-120"/>
              </a:rPr>
              <a:t>Enseignants</a:t>
            </a:r>
            <a:endParaRPr lang="en-US" sz="1500" dirty="0"/>
          </a:p>
        </p:txBody>
      </p:sp>
      <p:sp>
        <p:nvSpPr>
          <p:cNvPr id="21" name="Text 19"/>
          <p:cNvSpPr/>
          <p:nvPr/>
        </p:nvSpPr>
        <p:spPr>
          <a:xfrm>
            <a:off x="5559552" y="3739896"/>
            <a:ext cx="5394960" cy="329184"/>
          </a:xfrm>
          <a:prstGeom prst="rect">
            <a:avLst/>
          </a:prstGeom>
          <a:noFill/>
          <a:ln/>
        </p:spPr>
        <p:txBody>
          <a:bodyPr wrap="square" lIns="0" tIns="0" rIns="0" bIns="0" rtlCol="0" anchor="ctr">
            <a:normAutofit/>
          </a:bodyPr>
          <a:lstStyle/>
          <a:p>
            <a:pPr indent="0" marL="0">
              <a:buNone/>
            </a:pPr>
            <a:r>
              <a:rPr lang="en-US" sz="1050" dirty="0">
                <a:solidFill>
                  <a:srgbClr val="6D625D"/>
                </a:solidFill>
                <a:latin typeface="Segoe UI" pitchFamily="34" charset="0"/>
                <a:ea typeface="Segoe UI" pitchFamily="34" charset="-122"/>
                <a:cs typeface="Segoe UI" pitchFamily="34" charset="-120"/>
              </a:rPr>
              <a:t>Saisies répétitives, suivi morcelé et communication dispersée.</a:t>
            </a:r>
            <a:endParaRPr lang="en-US" sz="1050" dirty="0"/>
          </a:p>
        </p:txBody>
      </p:sp>
      <p:sp>
        <p:nvSpPr>
          <p:cNvPr id="22" name="Shape 20"/>
          <p:cNvSpPr/>
          <p:nvPr/>
        </p:nvSpPr>
        <p:spPr>
          <a:xfrm>
            <a:off x="4517136" y="4590288"/>
            <a:ext cx="7095744" cy="1078992"/>
          </a:xfrm>
          <a:prstGeom prst="roundRect">
            <a:avLst>
              <a:gd name="adj" fmla="val 10169"/>
            </a:avLst>
          </a:prstGeom>
          <a:solidFill>
            <a:srgbClr val="FAF4EA"/>
          </a:solidFill>
          <a:ln w="10160">
            <a:solidFill>
              <a:srgbClr val="D8C8B8"/>
            </a:solidFill>
            <a:prstDash val="solid"/>
          </a:ln>
        </p:spPr>
      </p:sp>
      <p:sp>
        <p:nvSpPr>
          <p:cNvPr id="23" name="Shape 21"/>
          <p:cNvSpPr/>
          <p:nvPr/>
        </p:nvSpPr>
        <p:spPr>
          <a:xfrm>
            <a:off x="4782312" y="4864608"/>
            <a:ext cx="512064" cy="512064"/>
          </a:xfrm>
          <a:prstGeom prst="ellipse">
            <a:avLst/>
          </a:prstGeom>
          <a:solidFill>
            <a:srgbClr val="C48A2A"/>
          </a:solidFill>
          <a:ln w="12700">
            <a:solidFill>
              <a:srgbClr val="FFFFFF">
                <a:alpha val="0"/>
              </a:srgbClr>
            </a:solidFill>
            <a:prstDash val="solid"/>
          </a:ln>
        </p:spPr>
      </p:sp>
      <p:sp>
        <p:nvSpPr>
          <p:cNvPr id="24" name="Text 22"/>
          <p:cNvSpPr/>
          <p:nvPr/>
        </p:nvSpPr>
        <p:spPr>
          <a:xfrm>
            <a:off x="4782312" y="4864608"/>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03</a:t>
            </a:r>
            <a:endParaRPr lang="en-US" sz="1200" dirty="0"/>
          </a:p>
        </p:txBody>
      </p:sp>
      <p:sp>
        <p:nvSpPr>
          <p:cNvPr id="25" name="Text 23"/>
          <p:cNvSpPr/>
          <p:nvPr/>
        </p:nvSpPr>
        <p:spPr>
          <a:xfrm>
            <a:off x="5550408" y="4754880"/>
            <a:ext cx="1920240" cy="320040"/>
          </a:xfrm>
          <a:prstGeom prst="rect">
            <a:avLst/>
          </a:prstGeom>
          <a:noFill/>
          <a:ln/>
        </p:spPr>
        <p:txBody>
          <a:bodyPr wrap="square" lIns="0" tIns="0" rIns="0" bIns="0" rtlCol="0" anchor="ctr">
            <a:normAutofit/>
          </a:bodyPr>
          <a:lstStyle/>
          <a:p>
            <a:pPr indent="0" marL="0">
              <a:buNone/>
            </a:pPr>
            <a:r>
              <a:rPr lang="en-US" sz="1500" b="1" dirty="0">
                <a:solidFill>
                  <a:srgbClr val="2F2522"/>
                </a:solidFill>
                <a:latin typeface="Segoe UI" pitchFamily="34" charset="0"/>
                <a:ea typeface="Segoe UI" pitchFamily="34" charset="-122"/>
                <a:cs typeface="Segoe UI" pitchFamily="34" charset="-120"/>
              </a:rPr>
              <a:t>Administration</a:t>
            </a:r>
            <a:endParaRPr lang="en-US" sz="1500" dirty="0"/>
          </a:p>
        </p:txBody>
      </p:sp>
      <p:sp>
        <p:nvSpPr>
          <p:cNvPr id="26" name="Text 24"/>
          <p:cNvSpPr/>
          <p:nvPr/>
        </p:nvSpPr>
        <p:spPr>
          <a:xfrm>
            <a:off x="5559552" y="5111496"/>
            <a:ext cx="5394960" cy="329184"/>
          </a:xfrm>
          <a:prstGeom prst="rect">
            <a:avLst/>
          </a:prstGeom>
          <a:noFill/>
          <a:ln/>
        </p:spPr>
        <p:txBody>
          <a:bodyPr wrap="square" lIns="0" tIns="0" rIns="0" bIns="0" rtlCol="0" anchor="ctr">
            <a:normAutofit/>
          </a:bodyPr>
          <a:lstStyle/>
          <a:p>
            <a:pPr indent="0" marL="0">
              <a:buNone/>
            </a:pPr>
            <a:r>
              <a:rPr lang="en-US" sz="1050" dirty="0">
                <a:solidFill>
                  <a:srgbClr val="6D625D"/>
                </a:solidFill>
                <a:latin typeface="Segoe UI" pitchFamily="34" charset="0"/>
                <a:ea typeface="Segoe UI" pitchFamily="34" charset="-122"/>
                <a:cs typeface="Segoe UI" pitchFamily="34" charset="-120"/>
              </a:rPr>
              <a:t>Pilotage difficile et consolidation tardive des données.</a:t>
            </a:r>
            <a:endParaRPr lang="en-US" sz="1050" dirty="0"/>
          </a:p>
        </p:txBody>
      </p:sp>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4206240" cy="228600"/>
          </a:xfrm>
          <a:prstGeom prst="rect">
            <a:avLst/>
          </a:prstGeom>
          <a:noFill/>
          <a:ln/>
        </p:spPr>
        <p:txBody>
          <a:bodyPr wrap="square" lIns="0" tIns="0" rIns="0" bIns="0" rtlCol="0" anchor="ctr">
            <a:normAutofit/>
          </a:bodyPr>
          <a:lstStyle/>
          <a:p>
            <a:pPr indent="0" marL="0">
              <a:buNone/>
            </a:pPr>
            <a:r>
              <a:rPr lang="en-US" sz="800" b="1" spc="220" kern="0" dirty="0">
                <a:solidFill>
                  <a:srgbClr val="C47A5A"/>
                </a:solidFill>
                <a:latin typeface="Segoe UI" pitchFamily="34" charset="0"/>
                <a:ea typeface="Segoe UI" pitchFamily="34" charset="-122"/>
                <a:cs typeface="Segoe UI" pitchFamily="34" charset="-120"/>
              </a:rPr>
              <a:t>02 — LA SOLUTION</a:t>
            </a:r>
            <a:endParaRPr lang="en-US" sz="800" dirty="0"/>
          </a:p>
        </p:txBody>
      </p:sp>
      <p:sp>
        <p:nvSpPr>
          <p:cNvPr id="3" name="Text 1"/>
          <p:cNvSpPr/>
          <p:nvPr/>
        </p:nvSpPr>
        <p:spPr>
          <a:xfrm>
            <a:off x="566928" y="667512"/>
            <a:ext cx="10881360" cy="566928"/>
          </a:xfrm>
          <a:prstGeom prst="rect">
            <a:avLst/>
          </a:prstGeom>
          <a:noFill/>
          <a:ln/>
        </p:spPr>
        <p:txBody>
          <a:bodyPr wrap="square" lIns="0" tIns="0" rIns="0" bIns="0" rtlCol="0" anchor="ctr">
            <a:normAutofit/>
          </a:bodyPr>
          <a:lstStyle/>
          <a:p>
            <a:pPr indent="0" marL="0">
              <a:buNone/>
            </a:pPr>
            <a:r>
              <a:rPr lang="en-US" sz="2700" b="1" dirty="0">
                <a:solidFill>
                  <a:srgbClr val="2F2522"/>
                </a:solidFill>
                <a:latin typeface="Segoe UI" pitchFamily="34" charset="0"/>
                <a:ea typeface="Segoe UI" pitchFamily="34" charset="-122"/>
                <a:cs typeface="Segoe UI" pitchFamily="34" charset="-120"/>
              </a:rPr>
              <a:t>Un seul espace. Des rôles distincts. Une information fiable.</a:t>
            </a:r>
            <a:endParaRPr lang="en-US" sz="2700" dirty="0"/>
          </a:p>
        </p:txBody>
      </p:sp>
      <p:sp>
        <p:nvSpPr>
          <p:cNvPr id="4" name="Text 2"/>
          <p:cNvSpPr/>
          <p:nvPr/>
        </p:nvSpPr>
        <p:spPr>
          <a:xfrm>
            <a:off x="585216" y="1261872"/>
            <a:ext cx="10515600" cy="329184"/>
          </a:xfrm>
          <a:prstGeom prst="rect">
            <a:avLst/>
          </a:prstGeom>
          <a:noFill/>
          <a:ln/>
        </p:spPr>
        <p:txBody>
          <a:bodyPr wrap="square" lIns="0" tIns="0" rIns="0" bIns="0" rtlCol="0" anchor="ctr">
            <a:normAutofit/>
          </a:bodyPr>
          <a:lstStyle/>
          <a:p>
            <a:pPr indent="0" marL="0">
              <a:buNone/>
            </a:pPr>
            <a:r>
              <a:rPr lang="en-US" sz="1120" dirty="0">
                <a:solidFill>
                  <a:srgbClr val="6D625D"/>
                </a:solidFill>
                <a:latin typeface="Segoe UI" pitchFamily="34" charset="0"/>
                <a:ea typeface="Segoe UI" pitchFamily="34" charset="-122"/>
                <a:cs typeface="Segoe UI" pitchFamily="34" charset="-120"/>
              </a:rPr>
              <a:t>Smart Faculty connecte les acteurs et centralise les opérations académiques.</a:t>
            </a:r>
            <a:endParaRPr lang="en-US" sz="1120" dirty="0"/>
          </a:p>
        </p:txBody>
      </p:sp>
      <p:sp>
        <p:nvSpPr>
          <p:cNvPr id="5" name="Shape 3"/>
          <p:cNvSpPr/>
          <p:nvPr/>
        </p:nvSpPr>
        <p:spPr>
          <a:xfrm>
            <a:off x="4727448" y="2057400"/>
            <a:ext cx="2743200" cy="2743200"/>
          </a:xfrm>
          <a:prstGeom prst="ellipse">
            <a:avLst/>
          </a:prstGeom>
          <a:solidFill>
            <a:srgbClr val="5D4037"/>
          </a:solidFill>
          <a:ln w="38100">
            <a:solidFill>
              <a:srgbClr val="C47A5A"/>
            </a:solidFill>
            <a:prstDash val="solid"/>
          </a:ln>
          <a:effectLst>
            <a:outerShdw sx="100000" sy="100000" kx="0" ky="0" algn="bl" rotWithShape="0" blurRad="25400" dist="50800" dir="2700000">
              <a:srgbClr val="5D4037">
                <a:alpha val="11000"/>
              </a:srgbClr>
            </a:outerShdw>
          </a:effectLst>
        </p:spPr>
      </p:sp>
      <p:sp>
        <p:nvSpPr>
          <p:cNvPr id="6" name="Text 4"/>
          <p:cNvSpPr/>
          <p:nvPr/>
        </p:nvSpPr>
        <p:spPr>
          <a:xfrm>
            <a:off x="5184648" y="2843784"/>
            <a:ext cx="1828800" cy="384048"/>
          </a:xfrm>
          <a:prstGeom prst="rect">
            <a:avLst/>
          </a:prstGeom>
          <a:noFill/>
          <a:ln/>
        </p:spPr>
        <p:txBody>
          <a:bodyPr wrap="square" lIns="0" tIns="0" rIns="0" bIns="0" rtlCol="0" anchor="ctr">
            <a:normAutofit/>
          </a:bodyPr>
          <a:lstStyle/>
          <a:p>
            <a:pPr algn="ctr" indent="0" marL="0">
              <a:buNone/>
            </a:pPr>
            <a:r>
              <a:rPr lang="en-US" sz="1800" b="1" spc="160" kern="0" dirty="0">
                <a:solidFill>
                  <a:srgbClr val="F5EFE6"/>
                </a:solidFill>
                <a:latin typeface="Segoe UI" pitchFamily="34" charset="0"/>
                <a:ea typeface="Segoe UI" pitchFamily="34" charset="-122"/>
                <a:cs typeface="Segoe UI" pitchFamily="34" charset="-120"/>
              </a:rPr>
              <a:t>SMART</a:t>
            </a:r>
            <a:endParaRPr lang="en-US" sz="1800" dirty="0"/>
          </a:p>
        </p:txBody>
      </p:sp>
      <p:sp>
        <p:nvSpPr>
          <p:cNvPr id="7" name="Text 5"/>
          <p:cNvSpPr/>
          <p:nvPr/>
        </p:nvSpPr>
        <p:spPr>
          <a:xfrm>
            <a:off x="5047488" y="3236976"/>
            <a:ext cx="2103120" cy="512064"/>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latin typeface="Segoe UI" pitchFamily="34" charset="0"/>
                <a:ea typeface="Segoe UI" pitchFamily="34" charset="-122"/>
                <a:cs typeface="Segoe UI" pitchFamily="34" charset="-120"/>
              </a:rPr>
              <a:t>FACULTY</a:t>
            </a:r>
            <a:endParaRPr lang="en-US" sz="2500" dirty="0"/>
          </a:p>
        </p:txBody>
      </p:sp>
      <p:sp>
        <p:nvSpPr>
          <p:cNvPr id="8" name="Shape 6"/>
          <p:cNvSpPr/>
          <p:nvPr/>
        </p:nvSpPr>
        <p:spPr>
          <a:xfrm>
            <a:off x="3364992" y="2487168"/>
            <a:ext cx="1371600" cy="583936"/>
          </a:xfrm>
          <a:prstGeom prst="line">
            <a:avLst/>
          </a:prstGeom>
          <a:noFill/>
          <a:ln w="19050">
            <a:solidFill>
              <a:srgbClr val="D8C8B8"/>
            </a:solidFill>
            <a:prstDash val="solid"/>
            <a:headEnd type="none"/>
            <a:tailEnd type="triangle"/>
          </a:ln>
        </p:spPr>
      </p:sp>
      <p:sp>
        <p:nvSpPr>
          <p:cNvPr id="9" name="Shape 7"/>
          <p:cNvSpPr/>
          <p:nvPr/>
        </p:nvSpPr>
        <p:spPr>
          <a:xfrm>
            <a:off x="667512" y="1956816"/>
            <a:ext cx="2770632" cy="1078992"/>
          </a:xfrm>
          <a:prstGeom prst="roundRect">
            <a:avLst>
              <a:gd name="adj" fmla="val 10169"/>
            </a:avLst>
          </a:prstGeom>
          <a:solidFill>
            <a:srgbClr val="FAF4EA"/>
          </a:solidFill>
          <a:ln w="10160">
            <a:solidFill>
              <a:srgbClr val="D8C8B8"/>
            </a:solidFill>
            <a:prstDash val="solid"/>
          </a:ln>
        </p:spPr>
      </p:sp>
      <p:sp>
        <p:nvSpPr>
          <p:cNvPr id="10" name="Shape 8"/>
          <p:cNvSpPr/>
          <p:nvPr/>
        </p:nvSpPr>
        <p:spPr>
          <a:xfrm>
            <a:off x="896112" y="2240280"/>
            <a:ext cx="512064" cy="512064"/>
          </a:xfrm>
          <a:prstGeom prst="ellipse">
            <a:avLst/>
          </a:prstGeom>
          <a:solidFill>
            <a:srgbClr val="C47A5A"/>
          </a:solidFill>
          <a:ln w="12700">
            <a:solidFill>
              <a:srgbClr val="FFFFFF">
                <a:alpha val="0"/>
              </a:srgbClr>
            </a:solidFill>
            <a:prstDash val="solid"/>
          </a:ln>
        </p:spPr>
      </p:sp>
      <p:sp>
        <p:nvSpPr>
          <p:cNvPr id="11" name="Text 9"/>
          <p:cNvSpPr/>
          <p:nvPr/>
        </p:nvSpPr>
        <p:spPr>
          <a:xfrm>
            <a:off x="896112" y="2240280"/>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E</a:t>
            </a:r>
            <a:endParaRPr lang="en-US" sz="1200" dirty="0"/>
          </a:p>
        </p:txBody>
      </p:sp>
      <p:sp>
        <p:nvSpPr>
          <p:cNvPr id="12" name="Text 10"/>
          <p:cNvSpPr/>
          <p:nvPr/>
        </p:nvSpPr>
        <p:spPr>
          <a:xfrm>
            <a:off x="1572768" y="2139696"/>
            <a:ext cx="1627632" cy="320040"/>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Étudiant</a:t>
            </a:r>
            <a:endParaRPr lang="en-US" sz="1320" dirty="0"/>
          </a:p>
        </p:txBody>
      </p:sp>
      <p:sp>
        <p:nvSpPr>
          <p:cNvPr id="13" name="Text 11"/>
          <p:cNvSpPr/>
          <p:nvPr/>
        </p:nvSpPr>
        <p:spPr>
          <a:xfrm>
            <a:off x="1572768" y="2496312"/>
            <a:ext cx="1627632" cy="310896"/>
          </a:xfrm>
          <a:prstGeom prst="rect">
            <a:avLst/>
          </a:prstGeom>
          <a:noFill/>
          <a:ln/>
        </p:spPr>
        <p:txBody>
          <a:bodyPr wrap="square" lIns="0" tIns="0" rIns="0" bIns="0" rtlCol="0" anchor="ctr">
            <a:normAutofit/>
          </a:bodyPr>
          <a:lstStyle/>
          <a:p>
            <a:pPr indent="0" marL="0">
              <a:buNone/>
            </a:pPr>
            <a:r>
              <a:rPr lang="en-US" sz="860" dirty="0">
                <a:solidFill>
                  <a:srgbClr val="6D625D"/>
                </a:solidFill>
                <a:latin typeface="Segoe UI" pitchFamily="34" charset="0"/>
                <a:ea typeface="Segoe UI" pitchFamily="34" charset="-122"/>
                <a:cs typeface="Segoe UI" pitchFamily="34" charset="-120"/>
              </a:rPr>
              <a:t>Consulter • suivre • réclamer</a:t>
            </a:r>
            <a:endParaRPr lang="en-US" sz="860" dirty="0"/>
          </a:p>
        </p:txBody>
      </p:sp>
      <p:sp>
        <p:nvSpPr>
          <p:cNvPr id="14" name="Shape 12"/>
          <p:cNvSpPr/>
          <p:nvPr/>
        </p:nvSpPr>
        <p:spPr>
          <a:xfrm>
            <a:off x="3364992" y="4764024"/>
            <a:ext cx="1371600" cy="-827715"/>
          </a:xfrm>
          <a:prstGeom prst="line">
            <a:avLst/>
          </a:prstGeom>
          <a:noFill/>
          <a:ln w="19050">
            <a:solidFill>
              <a:srgbClr val="D8C8B8"/>
            </a:solidFill>
            <a:prstDash val="solid"/>
            <a:headEnd type="none"/>
            <a:tailEnd type="triangle"/>
          </a:ln>
        </p:spPr>
      </p:sp>
      <p:sp>
        <p:nvSpPr>
          <p:cNvPr id="15" name="Shape 13"/>
          <p:cNvSpPr/>
          <p:nvPr/>
        </p:nvSpPr>
        <p:spPr>
          <a:xfrm>
            <a:off x="667512" y="4233672"/>
            <a:ext cx="2770632" cy="1078992"/>
          </a:xfrm>
          <a:prstGeom prst="roundRect">
            <a:avLst>
              <a:gd name="adj" fmla="val 10169"/>
            </a:avLst>
          </a:prstGeom>
          <a:solidFill>
            <a:srgbClr val="FAF4EA"/>
          </a:solidFill>
          <a:ln w="10160">
            <a:solidFill>
              <a:srgbClr val="D8C8B8"/>
            </a:solidFill>
            <a:prstDash val="solid"/>
          </a:ln>
        </p:spPr>
      </p:sp>
      <p:sp>
        <p:nvSpPr>
          <p:cNvPr id="16" name="Shape 14"/>
          <p:cNvSpPr/>
          <p:nvPr/>
        </p:nvSpPr>
        <p:spPr>
          <a:xfrm>
            <a:off x="896112" y="4517136"/>
            <a:ext cx="512064" cy="512064"/>
          </a:xfrm>
          <a:prstGeom prst="ellipse">
            <a:avLst/>
          </a:prstGeom>
          <a:solidFill>
            <a:srgbClr val="6F8A8A"/>
          </a:solidFill>
          <a:ln w="12700">
            <a:solidFill>
              <a:srgbClr val="FFFFFF">
                <a:alpha val="0"/>
              </a:srgbClr>
            </a:solidFill>
            <a:prstDash val="solid"/>
          </a:ln>
        </p:spPr>
      </p:sp>
      <p:sp>
        <p:nvSpPr>
          <p:cNvPr id="17" name="Text 15"/>
          <p:cNvSpPr/>
          <p:nvPr/>
        </p:nvSpPr>
        <p:spPr>
          <a:xfrm>
            <a:off x="896112" y="4517136"/>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EN</a:t>
            </a:r>
            <a:endParaRPr lang="en-US" sz="1200" dirty="0"/>
          </a:p>
        </p:txBody>
      </p:sp>
      <p:sp>
        <p:nvSpPr>
          <p:cNvPr id="18" name="Text 16"/>
          <p:cNvSpPr/>
          <p:nvPr/>
        </p:nvSpPr>
        <p:spPr>
          <a:xfrm>
            <a:off x="1572768" y="4416552"/>
            <a:ext cx="1627632" cy="320040"/>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Enseignant</a:t>
            </a:r>
            <a:endParaRPr lang="en-US" sz="1320" dirty="0"/>
          </a:p>
        </p:txBody>
      </p:sp>
      <p:sp>
        <p:nvSpPr>
          <p:cNvPr id="19" name="Text 17"/>
          <p:cNvSpPr/>
          <p:nvPr/>
        </p:nvSpPr>
        <p:spPr>
          <a:xfrm>
            <a:off x="1572768" y="4773168"/>
            <a:ext cx="1627632" cy="310896"/>
          </a:xfrm>
          <a:prstGeom prst="rect">
            <a:avLst/>
          </a:prstGeom>
          <a:noFill/>
          <a:ln/>
        </p:spPr>
        <p:txBody>
          <a:bodyPr wrap="square" lIns="0" tIns="0" rIns="0" bIns="0" rtlCol="0" anchor="ctr">
            <a:normAutofit/>
          </a:bodyPr>
          <a:lstStyle/>
          <a:p>
            <a:pPr indent="0" marL="0">
              <a:buNone/>
            </a:pPr>
            <a:r>
              <a:rPr lang="en-US" sz="860" dirty="0">
                <a:solidFill>
                  <a:srgbClr val="6D625D"/>
                </a:solidFill>
                <a:latin typeface="Segoe UI" pitchFamily="34" charset="0"/>
                <a:ea typeface="Segoe UI" pitchFamily="34" charset="-122"/>
                <a:cs typeface="Segoe UI" pitchFamily="34" charset="-120"/>
              </a:rPr>
              <a:t>Cours • notes • présences</a:t>
            </a:r>
            <a:endParaRPr lang="en-US" sz="860" dirty="0"/>
          </a:p>
        </p:txBody>
      </p:sp>
      <p:sp>
        <p:nvSpPr>
          <p:cNvPr id="20" name="Shape 18"/>
          <p:cNvSpPr/>
          <p:nvPr/>
        </p:nvSpPr>
        <p:spPr>
          <a:xfrm>
            <a:off x="7470648" y="2487168"/>
            <a:ext cx="1271016" cy="583936"/>
          </a:xfrm>
          <a:prstGeom prst="line">
            <a:avLst/>
          </a:prstGeom>
          <a:noFill/>
          <a:ln w="19050">
            <a:solidFill>
              <a:srgbClr val="D8C8B8"/>
            </a:solidFill>
            <a:prstDash val="solid"/>
            <a:headEnd type="none"/>
            <a:tailEnd type="triangle"/>
          </a:ln>
        </p:spPr>
      </p:sp>
      <p:sp>
        <p:nvSpPr>
          <p:cNvPr id="21" name="Shape 19"/>
          <p:cNvSpPr/>
          <p:nvPr/>
        </p:nvSpPr>
        <p:spPr>
          <a:xfrm>
            <a:off x="8741664" y="1956816"/>
            <a:ext cx="2770632" cy="1078992"/>
          </a:xfrm>
          <a:prstGeom prst="roundRect">
            <a:avLst>
              <a:gd name="adj" fmla="val 10169"/>
            </a:avLst>
          </a:prstGeom>
          <a:solidFill>
            <a:srgbClr val="FAF4EA"/>
          </a:solidFill>
          <a:ln w="10160">
            <a:solidFill>
              <a:srgbClr val="D8C8B8"/>
            </a:solidFill>
            <a:prstDash val="solid"/>
          </a:ln>
        </p:spPr>
      </p:sp>
      <p:sp>
        <p:nvSpPr>
          <p:cNvPr id="22" name="Shape 20"/>
          <p:cNvSpPr/>
          <p:nvPr/>
        </p:nvSpPr>
        <p:spPr>
          <a:xfrm>
            <a:off x="8970264" y="2240280"/>
            <a:ext cx="512064" cy="512064"/>
          </a:xfrm>
          <a:prstGeom prst="ellipse">
            <a:avLst/>
          </a:prstGeom>
          <a:solidFill>
            <a:srgbClr val="C48A2A"/>
          </a:solidFill>
          <a:ln w="12700">
            <a:solidFill>
              <a:srgbClr val="FFFFFF">
                <a:alpha val="0"/>
              </a:srgbClr>
            </a:solidFill>
            <a:prstDash val="solid"/>
          </a:ln>
        </p:spPr>
      </p:sp>
      <p:sp>
        <p:nvSpPr>
          <p:cNvPr id="23" name="Text 21"/>
          <p:cNvSpPr/>
          <p:nvPr/>
        </p:nvSpPr>
        <p:spPr>
          <a:xfrm>
            <a:off x="8970264" y="2240280"/>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A</a:t>
            </a:r>
            <a:endParaRPr lang="en-US" sz="1200" dirty="0"/>
          </a:p>
        </p:txBody>
      </p:sp>
      <p:sp>
        <p:nvSpPr>
          <p:cNvPr id="24" name="Text 22"/>
          <p:cNvSpPr/>
          <p:nvPr/>
        </p:nvSpPr>
        <p:spPr>
          <a:xfrm>
            <a:off x="9646920" y="2139696"/>
            <a:ext cx="1627632" cy="320040"/>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Administration</a:t>
            </a:r>
            <a:endParaRPr lang="en-US" sz="1320" dirty="0"/>
          </a:p>
        </p:txBody>
      </p:sp>
      <p:sp>
        <p:nvSpPr>
          <p:cNvPr id="25" name="Text 23"/>
          <p:cNvSpPr/>
          <p:nvPr/>
        </p:nvSpPr>
        <p:spPr>
          <a:xfrm>
            <a:off x="9646920" y="2496312"/>
            <a:ext cx="1627632" cy="310896"/>
          </a:xfrm>
          <a:prstGeom prst="rect">
            <a:avLst/>
          </a:prstGeom>
          <a:noFill/>
          <a:ln/>
        </p:spPr>
        <p:txBody>
          <a:bodyPr wrap="square" lIns="0" tIns="0" rIns="0" bIns="0" rtlCol="0" anchor="ctr">
            <a:normAutofit/>
          </a:bodyPr>
          <a:lstStyle/>
          <a:p>
            <a:pPr indent="0" marL="0">
              <a:buNone/>
            </a:pPr>
            <a:r>
              <a:rPr lang="en-US" sz="860" dirty="0">
                <a:solidFill>
                  <a:srgbClr val="6D625D"/>
                </a:solidFill>
                <a:latin typeface="Segoe UI" pitchFamily="34" charset="0"/>
                <a:ea typeface="Segoe UI" pitchFamily="34" charset="-122"/>
                <a:cs typeface="Segoe UI" pitchFamily="34" charset="-120"/>
              </a:rPr>
              <a:t>Organiser • valider • piloter</a:t>
            </a:r>
            <a:endParaRPr lang="en-US" sz="860" dirty="0"/>
          </a:p>
        </p:txBody>
      </p:sp>
      <p:sp>
        <p:nvSpPr>
          <p:cNvPr id="26" name="Shape 24"/>
          <p:cNvSpPr/>
          <p:nvPr/>
        </p:nvSpPr>
        <p:spPr>
          <a:xfrm>
            <a:off x="7470648" y="4764024"/>
            <a:ext cx="1271016" cy="-827715"/>
          </a:xfrm>
          <a:prstGeom prst="line">
            <a:avLst/>
          </a:prstGeom>
          <a:noFill/>
          <a:ln w="19050">
            <a:solidFill>
              <a:srgbClr val="D8C8B8"/>
            </a:solidFill>
            <a:prstDash val="solid"/>
            <a:headEnd type="none"/>
            <a:tailEnd type="triangle"/>
          </a:ln>
        </p:spPr>
      </p:sp>
      <p:sp>
        <p:nvSpPr>
          <p:cNvPr id="27" name="Shape 25"/>
          <p:cNvSpPr/>
          <p:nvPr/>
        </p:nvSpPr>
        <p:spPr>
          <a:xfrm>
            <a:off x="8741664" y="4233672"/>
            <a:ext cx="2770632" cy="1078992"/>
          </a:xfrm>
          <a:prstGeom prst="roundRect">
            <a:avLst>
              <a:gd name="adj" fmla="val 10169"/>
            </a:avLst>
          </a:prstGeom>
          <a:solidFill>
            <a:srgbClr val="FAF4EA"/>
          </a:solidFill>
          <a:ln w="10160">
            <a:solidFill>
              <a:srgbClr val="D8C8B8"/>
            </a:solidFill>
            <a:prstDash val="solid"/>
          </a:ln>
        </p:spPr>
      </p:sp>
      <p:sp>
        <p:nvSpPr>
          <p:cNvPr id="28" name="Shape 26"/>
          <p:cNvSpPr/>
          <p:nvPr/>
        </p:nvSpPr>
        <p:spPr>
          <a:xfrm>
            <a:off x="8970264" y="4517136"/>
            <a:ext cx="512064" cy="512064"/>
          </a:xfrm>
          <a:prstGeom prst="ellipse">
            <a:avLst/>
          </a:prstGeom>
          <a:solidFill>
            <a:srgbClr val="4F7A5A"/>
          </a:solidFill>
          <a:ln w="12700">
            <a:solidFill>
              <a:srgbClr val="FFFFFF">
                <a:alpha val="0"/>
              </a:srgbClr>
            </a:solidFill>
            <a:prstDash val="solid"/>
          </a:ln>
        </p:spPr>
      </p:sp>
      <p:sp>
        <p:nvSpPr>
          <p:cNvPr id="29" name="Text 27"/>
          <p:cNvSpPr/>
          <p:nvPr/>
        </p:nvSpPr>
        <p:spPr>
          <a:xfrm>
            <a:off x="8970264" y="4517136"/>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D</a:t>
            </a:r>
            <a:endParaRPr lang="en-US" sz="1200" dirty="0"/>
          </a:p>
        </p:txBody>
      </p:sp>
      <p:sp>
        <p:nvSpPr>
          <p:cNvPr id="30" name="Text 28"/>
          <p:cNvSpPr/>
          <p:nvPr/>
        </p:nvSpPr>
        <p:spPr>
          <a:xfrm>
            <a:off x="9646920" y="4416552"/>
            <a:ext cx="1627632" cy="320040"/>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Décideurs</a:t>
            </a:r>
            <a:endParaRPr lang="en-US" sz="1320" dirty="0"/>
          </a:p>
        </p:txBody>
      </p:sp>
      <p:sp>
        <p:nvSpPr>
          <p:cNvPr id="31" name="Text 29"/>
          <p:cNvSpPr/>
          <p:nvPr/>
        </p:nvSpPr>
        <p:spPr>
          <a:xfrm>
            <a:off x="9646920" y="4773168"/>
            <a:ext cx="1627632" cy="310896"/>
          </a:xfrm>
          <a:prstGeom prst="rect">
            <a:avLst/>
          </a:prstGeom>
          <a:noFill/>
          <a:ln/>
        </p:spPr>
        <p:txBody>
          <a:bodyPr wrap="square" lIns="0" tIns="0" rIns="0" bIns="0" rtlCol="0" anchor="ctr">
            <a:normAutofit/>
          </a:bodyPr>
          <a:lstStyle/>
          <a:p>
            <a:pPr indent="0" marL="0">
              <a:buNone/>
            </a:pPr>
            <a:r>
              <a:rPr lang="en-US" sz="860" dirty="0">
                <a:solidFill>
                  <a:srgbClr val="6D625D"/>
                </a:solidFill>
                <a:latin typeface="Segoe UI" pitchFamily="34" charset="0"/>
                <a:ea typeface="Segoe UI" pitchFamily="34" charset="-122"/>
                <a:cs typeface="Segoe UI" pitchFamily="34" charset="-120"/>
              </a:rPr>
              <a:t>Analyser • anticiper • agir</a:t>
            </a:r>
            <a:endParaRPr lang="en-US" sz="860" dirty="0"/>
          </a:p>
        </p:txBody>
      </p:sp>
      <p:sp>
        <p:nvSpPr>
          <p:cNvPr id="32" name="Shape 30"/>
          <p:cNvSpPr/>
          <p:nvPr/>
        </p:nvSpPr>
        <p:spPr>
          <a:xfrm>
            <a:off x="3364992" y="5577840"/>
            <a:ext cx="1600200" cy="310896"/>
          </a:xfrm>
          <a:prstGeom prst="roundRect">
            <a:avLst>
              <a:gd name="adj" fmla="val 50000"/>
            </a:avLst>
          </a:prstGeom>
          <a:solidFill>
            <a:srgbClr val="F5EFE6"/>
          </a:solidFill>
          <a:ln w="12700">
            <a:solidFill>
              <a:srgbClr val="F5EFE6"/>
            </a:solidFill>
            <a:prstDash val="solid"/>
          </a:ln>
        </p:spPr>
      </p:sp>
      <p:sp>
        <p:nvSpPr>
          <p:cNvPr id="33" name="Text 31"/>
          <p:cNvSpPr/>
          <p:nvPr/>
        </p:nvSpPr>
        <p:spPr>
          <a:xfrm>
            <a:off x="3438144" y="5586984"/>
            <a:ext cx="1453896" cy="283464"/>
          </a:xfrm>
          <a:prstGeom prst="rect">
            <a:avLst/>
          </a:prstGeom>
          <a:noFill/>
          <a:ln/>
        </p:spPr>
        <p:txBody>
          <a:bodyPr wrap="square" lIns="0" tIns="0" rIns="0" bIns="0" rtlCol="0" anchor="ctr">
            <a:normAutofit/>
          </a:bodyPr>
          <a:lstStyle/>
          <a:p>
            <a:pPr algn="ctr" indent="0" marL="0">
              <a:buNone/>
            </a:pPr>
            <a:r>
              <a:rPr lang="en-US" sz="820" b="1" dirty="0">
                <a:solidFill>
                  <a:srgbClr val="5D4037"/>
                </a:solidFill>
                <a:latin typeface="Segoe UI" pitchFamily="34" charset="0"/>
                <a:ea typeface="Segoe UI" pitchFamily="34" charset="-122"/>
                <a:cs typeface="Segoe UI" pitchFamily="34" charset="-120"/>
              </a:rPr>
              <a:t>CENTRALISER</a:t>
            </a:r>
            <a:endParaRPr lang="en-US" sz="820" dirty="0"/>
          </a:p>
        </p:txBody>
      </p:sp>
      <p:sp>
        <p:nvSpPr>
          <p:cNvPr id="34" name="Shape 32"/>
          <p:cNvSpPr/>
          <p:nvPr/>
        </p:nvSpPr>
        <p:spPr>
          <a:xfrm>
            <a:off x="5230368" y="5577840"/>
            <a:ext cx="1600200" cy="310896"/>
          </a:xfrm>
          <a:prstGeom prst="roundRect">
            <a:avLst>
              <a:gd name="adj" fmla="val 50000"/>
            </a:avLst>
          </a:prstGeom>
          <a:solidFill>
            <a:srgbClr val="F5EFE6"/>
          </a:solidFill>
          <a:ln w="12700">
            <a:solidFill>
              <a:srgbClr val="F5EFE6"/>
            </a:solidFill>
            <a:prstDash val="solid"/>
          </a:ln>
        </p:spPr>
      </p:sp>
      <p:sp>
        <p:nvSpPr>
          <p:cNvPr id="35" name="Text 33"/>
          <p:cNvSpPr/>
          <p:nvPr/>
        </p:nvSpPr>
        <p:spPr>
          <a:xfrm>
            <a:off x="5303520" y="5586984"/>
            <a:ext cx="1453896" cy="283464"/>
          </a:xfrm>
          <a:prstGeom prst="rect">
            <a:avLst/>
          </a:prstGeom>
          <a:noFill/>
          <a:ln/>
        </p:spPr>
        <p:txBody>
          <a:bodyPr wrap="square" lIns="0" tIns="0" rIns="0" bIns="0" rtlCol="0" anchor="ctr">
            <a:normAutofit/>
          </a:bodyPr>
          <a:lstStyle/>
          <a:p>
            <a:pPr algn="ctr" indent="0" marL="0">
              <a:buNone/>
            </a:pPr>
            <a:r>
              <a:rPr lang="en-US" sz="820" b="1" dirty="0">
                <a:solidFill>
                  <a:srgbClr val="5D4037"/>
                </a:solidFill>
                <a:latin typeface="Segoe UI" pitchFamily="34" charset="0"/>
                <a:ea typeface="Segoe UI" pitchFamily="34" charset="-122"/>
                <a:cs typeface="Segoe UI" pitchFamily="34" charset="-120"/>
              </a:rPr>
              <a:t>AUTOMATISER</a:t>
            </a:r>
            <a:endParaRPr lang="en-US" sz="820" dirty="0"/>
          </a:p>
        </p:txBody>
      </p:sp>
      <p:sp>
        <p:nvSpPr>
          <p:cNvPr id="36" name="Shape 34"/>
          <p:cNvSpPr/>
          <p:nvPr/>
        </p:nvSpPr>
        <p:spPr>
          <a:xfrm>
            <a:off x="7095744" y="5577840"/>
            <a:ext cx="1600200" cy="310896"/>
          </a:xfrm>
          <a:prstGeom prst="roundRect">
            <a:avLst>
              <a:gd name="adj" fmla="val 50000"/>
            </a:avLst>
          </a:prstGeom>
          <a:solidFill>
            <a:srgbClr val="F5EFE6"/>
          </a:solidFill>
          <a:ln w="12700">
            <a:solidFill>
              <a:srgbClr val="F5EFE6"/>
            </a:solidFill>
            <a:prstDash val="solid"/>
          </a:ln>
        </p:spPr>
      </p:sp>
      <p:sp>
        <p:nvSpPr>
          <p:cNvPr id="37" name="Text 35"/>
          <p:cNvSpPr/>
          <p:nvPr/>
        </p:nvSpPr>
        <p:spPr>
          <a:xfrm>
            <a:off x="7168896" y="5586984"/>
            <a:ext cx="1453896" cy="283464"/>
          </a:xfrm>
          <a:prstGeom prst="rect">
            <a:avLst/>
          </a:prstGeom>
          <a:noFill/>
          <a:ln/>
        </p:spPr>
        <p:txBody>
          <a:bodyPr wrap="square" lIns="0" tIns="0" rIns="0" bIns="0" rtlCol="0" anchor="ctr">
            <a:normAutofit/>
          </a:bodyPr>
          <a:lstStyle/>
          <a:p>
            <a:pPr algn="ctr" indent="0" marL="0">
              <a:buNone/>
            </a:pPr>
            <a:r>
              <a:rPr lang="en-US" sz="820" b="1" dirty="0">
                <a:solidFill>
                  <a:srgbClr val="5D4037"/>
                </a:solidFill>
                <a:latin typeface="Segoe UI" pitchFamily="34" charset="0"/>
                <a:ea typeface="Segoe UI" pitchFamily="34" charset="-122"/>
                <a:cs typeface="Segoe UI" pitchFamily="34" charset="-120"/>
              </a:rPr>
              <a:t>SÉCURISER</a:t>
            </a:r>
            <a:endParaRPr lang="en-US" sz="820" dirty="0"/>
          </a:p>
        </p:txBody>
      </p:sp>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9184"/>
            <a:ext cx="4206240" cy="228600"/>
          </a:xfrm>
          <a:prstGeom prst="rect">
            <a:avLst/>
          </a:prstGeom>
          <a:noFill/>
          <a:ln/>
        </p:spPr>
        <p:txBody>
          <a:bodyPr wrap="square" lIns="0" tIns="0" rIns="0" bIns="0" rtlCol="0" anchor="ctr">
            <a:normAutofit/>
          </a:bodyPr>
          <a:lstStyle/>
          <a:p>
            <a:pPr indent="0" marL="0">
              <a:buNone/>
            </a:pPr>
            <a:r>
              <a:rPr lang="en-US" sz="800" b="1" spc="220" kern="0" dirty="0">
                <a:solidFill>
                  <a:srgbClr val="C47A5A"/>
                </a:solidFill>
                <a:latin typeface="Segoe UI" pitchFamily="34" charset="0"/>
                <a:ea typeface="Segoe UI" pitchFamily="34" charset="-122"/>
                <a:cs typeface="Segoe UI" pitchFamily="34" charset="-120"/>
              </a:rPr>
              <a:t>03 — LE PRODUIT</a:t>
            </a:r>
            <a:endParaRPr lang="en-US" sz="800" dirty="0"/>
          </a:p>
        </p:txBody>
      </p:sp>
      <p:sp>
        <p:nvSpPr>
          <p:cNvPr id="3" name="Text 1"/>
          <p:cNvSpPr/>
          <p:nvPr/>
        </p:nvSpPr>
        <p:spPr>
          <a:xfrm>
            <a:off x="566928" y="667512"/>
            <a:ext cx="10881360" cy="566928"/>
          </a:xfrm>
          <a:prstGeom prst="rect">
            <a:avLst/>
          </a:prstGeom>
          <a:noFill/>
          <a:ln/>
        </p:spPr>
        <p:txBody>
          <a:bodyPr wrap="square" lIns="0" tIns="0" rIns="0" bIns="0" rtlCol="0" anchor="ctr">
            <a:normAutofit/>
          </a:bodyPr>
          <a:lstStyle/>
          <a:p>
            <a:pPr indent="0" marL="0">
              <a:buNone/>
            </a:pPr>
            <a:r>
              <a:rPr lang="en-US" sz="2700" b="1" dirty="0">
                <a:solidFill>
                  <a:srgbClr val="2F2522"/>
                </a:solidFill>
                <a:latin typeface="Segoe UI" pitchFamily="34" charset="0"/>
                <a:ea typeface="Segoe UI" pitchFamily="34" charset="-122"/>
                <a:cs typeface="Segoe UI" pitchFamily="34" charset="-120"/>
              </a:rPr>
              <a:t>Des fonctionnalités utiles, portées par une architecture solide</a:t>
            </a:r>
            <a:endParaRPr lang="en-US" sz="2700" dirty="0"/>
          </a:p>
        </p:txBody>
      </p:sp>
      <p:sp>
        <p:nvSpPr>
          <p:cNvPr id="4" name="Text 2"/>
          <p:cNvSpPr/>
          <p:nvPr/>
        </p:nvSpPr>
        <p:spPr>
          <a:xfrm>
            <a:off x="585216" y="1261872"/>
            <a:ext cx="10515600" cy="329184"/>
          </a:xfrm>
          <a:prstGeom prst="rect">
            <a:avLst/>
          </a:prstGeom>
          <a:noFill/>
          <a:ln/>
        </p:spPr>
        <p:txBody>
          <a:bodyPr wrap="square" lIns="0" tIns="0" rIns="0" bIns="0" rtlCol="0" anchor="ctr">
            <a:normAutofit/>
          </a:bodyPr>
          <a:lstStyle/>
          <a:p>
            <a:pPr indent="0" marL="0">
              <a:buNone/>
            </a:pPr>
            <a:r>
              <a:rPr lang="en-US" sz="1120" dirty="0">
                <a:solidFill>
                  <a:srgbClr val="6D625D"/>
                </a:solidFill>
                <a:latin typeface="Segoe UI" pitchFamily="34" charset="0"/>
                <a:ea typeface="Segoe UI" pitchFamily="34" charset="-122"/>
                <a:cs typeface="Segoe UI" pitchFamily="34" charset="-120"/>
              </a:rPr>
              <a:t>Du besoin métier à la donnée : un parcours simple et maîtrisé.</a:t>
            </a:r>
            <a:endParaRPr lang="en-US" sz="1120" dirty="0"/>
          </a:p>
        </p:txBody>
      </p:sp>
      <p:sp>
        <p:nvSpPr>
          <p:cNvPr id="5" name="Text 3"/>
          <p:cNvSpPr/>
          <p:nvPr/>
        </p:nvSpPr>
        <p:spPr>
          <a:xfrm>
            <a:off x="621792" y="1810512"/>
            <a:ext cx="5212080" cy="256032"/>
          </a:xfrm>
          <a:prstGeom prst="rect">
            <a:avLst/>
          </a:prstGeom>
          <a:noFill/>
          <a:ln/>
        </p:spPr>
        <p:txBody>
          <a:bodyPr wrap="square" lIns="0" tIns="0" rIns="0" bIns="0" rtlCol="0" anchor="ctr">
            <a:normAutofit/>
          </a:bodyPr>
          <a:lstStyle/>
          <a:p>
            <a:pPr indent="0" marL="0">
              <a:buNone/>
            </a:pPr>
            <a:r>
              <a:rPr lang="en-US" sz="820" b="1" spc="180" kern="0" dirty="0">
                <a:solidFill>
                  <a:srgbClr val="C47A5A"/>
                </a:solidFill>
                <a:latin typeface="Segoe UI" pitchFamily="34" charset="0"/>
                <a:ea typeface="Segoe UI" pitchFamily="34" charset="-122"/>
                <a:cs typeface="Segoe UI" pitchFamily="34" charset="-120"/>
              </a:rPr>
              <a:t>FONCTIONNALITÉS CLÉS</a:t>
            </a:r>
            <a:endParaRPr lang="en-US" sz="820" dirty="0"/>
          </a:p>
        </p:txBody>
      </p:sp>
      <p:sp>
        <p:nvSpPr>
          <p:cNvPr id="6" name="Shape 4"/>
          <p:cNvSpPr/>
          <p:nvPr/>
        </p:nvSpPr>
        <p:spPr>
          <a:xfrm>
            <a:off x="612648" y="2194560"/>
            <a:ext cx="2596896" cy="877824"/>
          </a:xfrm>
          <a:prstGeom prst="roundRect">
            <a:avLst>
              <a:gd name="adj" fmla="val 10417"/>
            </a:avLst>
          </a:prstGeom>
          <a:solidFill>
            <a:srgbClr val="FAF4EA"/>
          </a:solidFill>
          <a:ln w="10160">
            <a:solidFill>
              <a:srgbClr val="D8C8B8"/>
            </a:solidFill>
            <a:prstDash val="solid"/>
          </a:ln>
        </p:spPr>
      </p:sp>
      <p:sp>
        <p:nvSpPr>
          <p:cNvPr id="7" name="Text 5"/>
          <p:cNvSpPr/>
          <p:nvPr/>
        </p:nvSpPr>
        <p:spPr>
          <a:xfrm>
            <a:off x="777240" y="2340864"/>
            <a:ext cx="384048" cy="228600"/>
          </a:xfrm>
          <a:prstGeom prst="rect">
            <a:avLst/>
          </a:prstGeom>
          <a:noFill/>
          <a:ln/>
        </p:spPr>
        <p:txBody>
          <a:bodyPr wrap="square" lIns="0" tIns="0" rIns="0" bIns="0" rtlCol="0" anchor="ctr">
            <a:normAutofit/>
          </a:bodyPr>
          <a:lstStyle/>
          <a:p>
            <a:pPr indent="0" marL="0">
              <a:buNone/>
            </a:pPr>
            <a:r>
              <a:rPr lang="en-US" sz="800" b="1" dirty="0">
                <a:solidFill>
                  <a:srgbClr val="C47A5A"/>
                </a:solidFill>
                <a:latin typeface="Segoe UI" pitchFamily="34" charset="0"/>
                <a:ea typeface="Segoe UI" pitchFamily="34" charset="-122"/>
                <a:cs typeface="Segoe UI" pitchFamily="34" charset="-120"/>
              </a:rPr>
              <a:t>01</a:t>
            </a:r>
            <a:endParaRPr lang="en-US" sz="800" dirty="0"/>
          </a:p>
        </p:txBody>
      </p:sp>
      <p:sp>
        <p:nvSpPr>
          <p:cNvPr id="8" name="Text 6"/>
          <p:cNvSpPr/>
          <p:nvPr/>
        </p:nvSpPr>
        <p:spPr>
          <a:xfrm>
            <a:off x="1225296" y="2313432"/>
            <a:ext cx="1764792" cy="274320"/>
          </a:xfrm>
          <a:prstGeom prst="rect">
            <a:avLst/>
          </a:prstGeom>
          <a:noFill/>
          <a:ln/>
        </p:spPr>
        <p:txBody>
          <a:bodyPr wrap="square" lIns="0" tIns="0" rIns="0" bIns="0" rtlCol="0" anchor="ctr">
            <a:normAutofit/>
          </a:bodyPr>
          <a:lstStyle/>
          <a:p>
            <a:pPr indent="0" marL="0">
              <a:buNone/>
            </a:pPr>
            <a:r>
              <a:rPr lang="en-US" sz="1120" b="1" dirty="0">
                <a:solidFill>
                  <a:srgbClr val="2F2522"/>
                </a:solidFill>
                <a:latin typeface="Segoe UI" pitchFamily="34" charset="0"/>
                <a:ea typeface="Segoe UI" pitchFamily="34" charset="-122"/>
                <a:cs typeface="Segoe UI" pitchFamily="34" charset="-120"/>
              </a:rPr>
              <a:t>Tableaux de bord</a:t>
            </a:r>
            <a:endParaRPr lang="en-US" sz="1120" dirty="0"/>
          </a:p>
        </p:txBody>
      </p:sp>
      <p:sp>
        <p:nvSpPr>
          <p:cNvPr id="9" name="Text 7"/>
          <p:cNvSpPr/>
          <p:nvPr/>
        </p:nvSpPr>
        <p:spPr>
          <a:xfrm>
            <a:off x="1225296" y="2642616"/>
            <a:ext cx="1764792" cy="228600"/>
          </a:xfrm>
          <a:prstGeom prst="rect">
            <a:avLst/>
          </a:prstGeom>
          <a:noFill/>
          <a:ln/>
        </p:spPr>
        <p:txBody>
          <a:bodyPr wrap="square" lIns="0" tIns="0" rIns="0" bIns="0" rtlCol="0" anchor="ctr">
            <a:normAutofit/>
          </a:bodyPr>
          <a:lstStyle/>
          <a:p>
            <a:pPr indent="0" marL="0">
              <a:buNone/>
            </a:pPr>
            <a:r>
              <a:rPr lang="en-US" sz="790" dirty="0">
                <a:solidFill>
                  <a:srgbClr val="6D625D"/>
                </a:solidFill>
                <a:latin typeface="Segoe UI" pitchFamily="34" charset="0"/>
                <a:ea typeface="Segoe UI" pitchFamily="34" charset="-122"/>
                <a:cs typeface="Segoe UI" pitchFamily="34" charset="-120"/>
              </a:rPr>
              <a:t>Indicateurs selon le rôle</a:t>
            </a:r>
            <a:endParaRPr lang="en-US" sz="790" dirty="0"/>
          </a:p>
        </p:txBody>
      </p:sp>
      <p:sp>
        <p:nvSpPr>
          <p:cNvPr id="10" name="Shape 8"/>
          <p:cNvSpPr/>
          <p:nvPr/>
        </p:nvSpPr>
        <p:spPr>
          <a:xfrm>
            <a:off x="3447288" y="2194560"/>
            <a:ext cx="2596896" cy="877824"/>
          </a:xfrm>
          <a:prstGeom prst="roundRect">
            <a:avLst>
              <a:gd name="adj" fmla="val 10417"/>
            </a:avLst>
          </a:prstGeom>
          <a:solidFill>
            <a:srgbClr val="FAF4EA"/>
          </a:solidFill>
          <a:ln w="10160">
            <a:solidFill>
              <a:srgbClr val="D8C8B8"/>
            </a:solidFill>
            <a:prstDash val="solid"/>
          </a:ln>
        </p:spPr>
      </p:sp>
      <p:sp>
        <p:nvSpPr>
          <p:cNvPr id="11" name="Text 9"/>
          <p:cNvSpPr/>
          <p:nvPr/>
        </p:nvSpPr>
        <p:spPr>
          <a:xfrm>
            <a:off x="3611880" y="2340864"/>
            <a:ext cx="384048" cy="228600"/>
          </a:xfrm>
          <a:prstGeom prst="rect">
            <a:avLst/>
          </a:prstGeom>
          <a:noFill/>
          <a:ln/>
        </p:spPr>
        <p:txBody>
          <a:bodyPr wrap="square" lIns="0" tIns="0" rIns="0" bIns="0" rtlCol="0" anchor="ctr">
            <a:normAutofit/>
          </a:bodyPr>
          <a:lstStyle/>
          <a:p>
            <a:pPr indent="0" marL="0">
              <a:buNone/>
            </a:pPr>
            <a:r>
              <a:rPr lang="en-US" sz="800" b="1" dirty="0">
                <a:solidFill>
                  <a:srgbClr val="C47A5A"/>
                </a:solidFill>
                <a:latin typeface="Segoe UI" pitchFamily="34" charset="0"/>
                <a:ea typeface="Segoe UI" pitchFamily="34" charset="-122"/>
                <a:cs typeface="Segoe UI" pitchFamily="34" charset="-120"/>
              </a:rPr>
              <a:t>02</a:t>
            </a:r>
            <a:endParaRPr lang="en-US" sz="800" dirty="0"/>
          </a:p>
        </p:txBody>
      </p:sp>
      <p:sp>
        <p:nvSpPr>
          <p:cNvPr id="12" name="Text 10"/>
          <p:cNvSpPr/>
          <p:nvPr/>
        </p:nvSpPr>
        <p:spPr>
          <a:xfrm>
            <a:off x="4059936" y="2313432"/>
            <a:ext cx="1764792" cy="274320"/>
          </a:xfrm>
          <a:prstGeom prst="rect">
            <a:avLst/>
          </a:prstGeom>
          <a:noFill/>
          <a:ln/>
        </p:spPr>
        <p:txBody>
          <a:bodyPr wrap="square" lIns="0" tIns="0" rIns="0" bIns="0" rtlCol="0" anchor="ctr">
            <a:normAutofit/>
          </a:bodyPr>
          <a:lstStyle/>
          <a:p>
            <a:pPr indent="0" marL="0">
              <a:buNone/>
            </a:pPr>
            <a:r>
              <a:rPr lang="en-US" sz="1120" b="1" dirty="0">
                <a:solidFill>
                  <a:srgbClr val="2F2522"/>
                </a:solidFill>
                <a:latin typeface="Segoe UI" pitchFamily="34" charset="0"/>
                <a:ea typeface="Segoe UI" pitchFamily="34" charset="-122"/>
                <a:cs typeface="Segoe UI" pitchFamily="34" charset="-120"/>
              </a:rPr>
              <a:t>Notes &amp; résultats</a:t>
            </a:r>
            <a:endParaRPr lang="en-US" sz="1120" dirty="0"/>
          </a:p>
        </p:txBody>
      </p:sp>
      <p:sp>
        <p:nvSpPr>
          <p:cNvPr id="13" name="Text 11"/>
          <p:cNvSpPr/>
          <p:nvPr/>
        </p:nvSpPr>
        <p:spPr>
          <a:xfrm>
            <a:off x="4059936" y="2642616"/>
            <a:ext cx="1764792" cy="228600"/>
          </a:xfrm>
          <a:prstGeom prst="rect">
            <a:avLst/>
          </a:prstGeom>
          <a:noFill/>
          <a:ln/>
        </p:spPr>
        <p:txBody>
          <a:bodyPr wrap="square" lIns="0" tIns="0" rIns="0" bIns="0" rtlCol="0" anchor="ctr">
            <a:normAutofit/>
          </a:bodyPr>
          <a:lstStyle/>
          <a:p>
            <a:pPr indent="0" marL="0">
              <a:buNone/>
            </a:pPr>
            <a:r>
              <a:rPr lang="en-US" sz="790" dirty="0">
                <a:solidFill>
                  <a:srgbClr val="6D625D"/>
                </a:solidFill>
                <a:latin typeface="Segoe UI" pitchFamily="34" charset="0"/>
                <a:ea typeface="Segoe UI" pitchFamily="34" charset="-122"/>
                <a:cs typeface="Segoe UI" pitchFamily="34" charset="-120"/>
              </a:rPr>
              <a:t>Saisie, calcul et consultation</a:t>
            </a:r>
            <a:endParaRPr lang="en-US" sz="790" dirty="0"/>
          </a:p>
        </p:txBody>
      </p:sp>
      <p:sp>
        <p:nvSpPr>
          <p:cNvPr id="14" name="Shape 12"/>
          <p:cNvSpPr/>
          <p:nvPr/>
        </p:nvSpPr>
        <p:spPr>
          <a:xfrm>
            <a:off x="612648" y="3328416"/>
            <a:ext cx="2596896" cy="877824"/>
          </a:xfrm>
          <a:prstGeom prst="roundRect">
            <a:avLst>
              <a:gd name="adj" fmla="val 10417"/>
            </a:avLst>
          </a:prstGeom>
          <a:solidFill>
            <a:srgbClr val="FAF4EA"/>
          </a:solidFill>
          <a:ln w="10160">
            <a:solidFill>
              <a:srgbClr val="D8C8B8"/>
            </a:solidFill>
            <a:prstDash val="solid"/>
          </a:ln>
        </p:spPr>
      </p:sp>
      <p:sp>
        <p:nvSpPr>
          <p:cNvPr id="15" name="Text 13"/>
          <p:cNvSpPr/>
          <p:nvPr/>
        </p:nvSpPr>
        <p:spPr>
          <a:xfrm>
            <a:off x="777240" y="3474720"/>
            <a:ext cx="384048" cy="228600"/>
          </a:xfrm>
          <a:prstGeom prst="rect">
            <a:avLst/>
          </a:prstGeom>
          <a:noFill/>
          <a:ln/>
        </p:spPr>
        <p:txBody>
          <a:bodyPr wrap="square" lIns="0" tIns="0" rIns="0" bIns="0" rtlCol="0" anchor="ctr">
            <a:normAutofit/>
          </a:bodyPr>
          <a:lstStyle/>
          <a:p>
            <a:pPr indent="0" marL="0">
              <a:buNone/>
            </a:pPr>
            <a:r>
              <a:rPr lang="en-US" sz="800" b="1" dirty="0">
                <a:solidFill>
                  <a:srgbClr val="C47A5A"/>
                </a:solidFill>
                <a:latin typeface="Segoe UI" pitchFamily="34" charset="0"/>
                <a:ea typeface="Segoe UI" pitchFamily="34" charset="-122"/>
                <a:cs typeface="Segoe UI" pitchFamily="34" charset="-120"/>
              </a:rPr>
              <a:t>03</a:t>
            </a:r>
            <a:endParaRPr lang="en-US" sz="800" dirty="0"/>
          </a:p>
        </p:txBody>
      </p:sp>
      <p:sp>
        <p:nvSpPr>
          <p:cNvPr id="16" name="Text 14"/>
          <p:cNvSpPr/>
          <p:nvPr/>
        </p:nvSpPr>
        <p:spPr>
          <a:xfrm>
            <a:off x="1225296" y="3447288"/>
            <a:ext cx="1764792" cy="274320"/>
          </a:xfrm>
          <a:prstGeom prst="rect">
            <a:avLst/>
          </a:prstGeom>
          <a:noFill/>
          <a:ln/>
        </p:spPr>
        <p:txBody>
          <a:bodyPr wrap="square" lIns="0" tIns="0" rIns="0" bIns="0" rtlCol="0" anchor="ctr">
            <a:normAutofit/>
          </a:bodyPr>
          <a:lstStyle/>
          <a:p>
            <a:pPr indent="0" marL="0">
              <a:buNone/>
            </a:pPr>
            <a:r>
              <a:rPr lang="en-US" sz="1120" b="1" dirty="0">
                <a:solidFill>
                  <a:srgbClr val="2F2522"/>
                </a:solidFill>
                <a:latin typeface="Segoe UI" pitchFamily="34" charset="0"/>
                <a:ea typeface="Segoe UI" pitchFamily="34" charset="-122"/>
                <a:cs typeface="Segoe UI" pitchFamily="34" charset="-120"/>
              </a:rPr>
              <a:t>Valve académique</a:t>
            </a:r>
            <a:endParaRPr lang="en-US" sz="1120" dirty="0"/>
          </a:p>
        </p:txBody>
      </p:sp>
      <p:sp>
        <p:nvSpPr>
          <p:cNvPr id="17" name="Text 15"/>
          <p:cNvSpPr/>
          <p:nvPr/>
        </p:nvSpPr>
        <p:spPr>
          <a:xfrm>
            <a:off x="1225296" y="3776472"/>
            <a:ext cx="1764792" cy="228600"/>
          </a:xfrm>
          <a:prstGeom prst="rect">
            <a:avLst/>
          </a:prstGeom>
          <a:noFill/>
          <a:ln/>
        </p:spPr>
        <p:txBody>
          <a:bodyPr wrap="square" lIns="0" tIns="0" rIns="0" bIns="0" rtlCol="0" anchor="ctr">
            <a:normAutofit/>
          </a:bodyPr>
          <a:lstStyle/>
          <a:p>
            <a:pPr indent="0" marL="0">
              <a:buNone/>
            </a:pPr>
            <a:r>
              <a:rPr lang="en-US" sz="790" dirty="0">
                <a:solidFill>
                  <a:srgbClr val="6D625D"/>
                </a:solidFill>
                <a:latin typeface="Segoe UI" pitchFamily="34" charset="0"/>
                <a:ea typeface="Segoe UI" pitchFamily="34" charset="-122"/>
                <a:cs typeface="Segoe UI" pitchFamily="34" charset="-120"/>
              </a:rPr>
              <a:t>Annonces et documents</a:t>
            </a:r>
            <a:endParaRPr lang="en-US" sz="790" dirty="0"/>
          </a:p>
        </p:txBody>
      </p:sp>
      <p:sp>
        <p:nvSpPr>
          <p:cNvPr id="18" name="Shape 16"/>
          <p:cNvSpPr/>
          <p:nvPr/>
        </p:nvSpPr>
        <p:spPr>
          <a:xfrm>
            <a:off x="3447288" y="3328416"/>
            <a:ext cx="2596896" cy="877824"/>
          </a:xfrm>
          <a:prstGeom prst="roundRect">
            <a:avLst>
              <a:gd name="adj" fmla="val 10417"/>
            </a:avLst>
          </a:prstGeom>
          <a:solidFill>
            <a:srgbClr val="FAF4EA"/>
          </a:solidFill>
          <a:ln w="10160">
            <a:solidFill>
              <a:srgbClr val="D8C8B8"/>
            </a:solidFill>
            <a:prstDash val="solid"/>
          </a:ln>
        </p:spPr>
      </p:sp>
      <p:sp>
        <p:nvSpPr>
          <p:cNvPr id="19" name="Text 17"/>
          <p:cNvSpPr/>
          <p:nvPr/>
        </p:nvSpPr>
        <p:spPr>
          <a:xfrm>
            <a:off x="3611880" y="3474720"/>
            <a:ext cx="384048" cy="228600"/>
          </a:xfrm>
          <a:prstGeom prst="rect">
            <a:avLst/>
          </a:prstGeom>
          <a:noFill/>
          <a:ln/>
        </p:spPr>
        <p:txBody>
          <a:bodyPr wrap="square" lIns="0" tIns="0" rIns="0" bIns="0" rtlCol="0" anchor="ctr">
            <a:normAutofit/>
          </a:bodyPr>
          <a:lstStyle/>
          <a:p>
            <a:pPr indent="0" marL="0">
              <a:buNone/>
            </a:pPr>
            <a:r>
              <a:rPr lang="en-US" sz="800" b="1" dirty="0">
                <a:solidFill>
                  <a:srgbClr val="C47A5A"/>
                </a:solidFill>
                <a:latin typeface="Segoe UI" pitchFamily="34" charset="0"/>
                <a:ea typeface="Segoe UI" pitchFamily="34" charset="-122"/>
                <a:cs typeface="Segoe UI" pitchFamily="34" charset="-120"/>
              </a:rPr>
              <a:t>04</a:t>
            </a:r>
            <a:endParaRPr lang="en-US" sz="800" dirty="0"/>
          </a:p>
        </p:txBody>
      </p:sp>
      <p:sp>
        <p:nvSpPr>
          <p:cNvPr id="20" name="Text 18"/>
          <p:cNvSpPr/>
          <p:nvPr/>
        </p:nvSpPr>
        <p:spPr>
          <a:xfrm>
            <a:off x="4059936" y="3447288"/>
            <a:ext cx="1764792" cy="274320"/>
          </a:xfrm>
          <a:prstGeom prst="rect">
            <a:avLst/>
          </a:prstGeom>
          <a:noFill/>
          <a:ln/>
        </p:spPr>
        <p:txBody>
          <a:bodyPr wrap="square" lIns="0" tIns="0" rIns="0" bIns="0" rtlCol="0" anchor="ctr">
            <a:normAutofit/>
          </a:bodyPr>
          <a:lstStyle/>
          <a:p>
            <a:pPr indent="0" marL="0">
              <a:buNone/>
            </a:pPr>
            <a:r>
              <a:rPr lang="en-US" sz="1120" b="1" dirty="0">
                <a:solidFill>
                  <a:srgbClr val="2F2522"/>
                </a:solidFill>
                <a:latin typeface="Segoe UI" pitchFamily="34" charset="0"/>
                <a:ea typeface="Segoe UI" pitchFamily="34" charset="-122"/>
                <a:cs typeface="Segoe UI" pitchFamily="34" charset="-120"/>
              </a:rPr>
              <a:t>Présences</a:t>
            </a:r>
            <a:endParaRPr lang="en-US" sz="1120" dirty="0"/>
          </a:p>
        </p:txBody>
      </p:sp>
      <p:sp>
        <p:nvSpPr>
          <p:cNvPr id="21" name="Text 19"/>
          <p:cNvSpPr/>
          <p:nvPr/>
        </p:nvSpPr>
        <p:spPr>
          <a:xfrm>
            <a:off x="4059936" y="3776472"/>
            <a:ext cx="1764792" cy="228600"/>
          </a:xfrm>
          <a:prstGeom prst="rect">
            <a:avLst/>
          </a:prstGeom>
          <a:noFill/>
          <a:ln/>
        </p:spPr>
        <p:txBody>
          <a:bodyPr wrap="square" lIns="0" tIns="0" rIns="0" bIns="0" rtlCol="0" anchor="ctr">
            <a:normAutofit/>
          </a:bodyPr>
          <a:lstStyle/>
          <a:p>
            <a:pPr indent="0" marL="0">
              <a:buNone/>
            </a:pPr>
            <a:r>
              <a:rPr lang="en-US" sz="790" dirty="0">
                <a:solidFill>
                  <a:srgbClr val="6D625D"/>
                </a:solidFill>
                <a:latin typeface="Segoe UI" pitchFamily="34" charset="0"/>
                <a:ea typeface="Segoe UI" pitchFamily="34" charset="-122"/>
                <a:cs typeface="Segoe UI" pitchFamily="34" charset="-120"/>
              </a:rPr>
              <a:t>Suivi et contrôle d’accès</a:t>
            </a:r>
            <a:endParaRPr lang="en-US" sz="790" dirty="0"/>
          </a:p>
        </p:txBody>
      </p:sp>
      <p:sp>
        <p:nvSpPr>
          <p:cNvPr id="22" name="Shape 20"/>
          <p:cNvSpPr/>
          <p:nvPr/>
        </p:nvSpPr>
        <p:spPr>
          <a:xfrm>
            <a:off x="612648" y="4462272"/>
            <a:ext cx="2596896" cy="877824"/>
          </a:xfrm>
          <a:prstGeom prst="roundRect">
            <a:avLst>
              <a:gd name="adj" fmla="val 10417"/>
            </a:avLst>
          </a:prstGeom>
          <a:solidFill>
            <a:srgbClr val="FAF4EA"/>
          </a:solidFill>
          <a:ln w="10160">
            <a:solidFill>
              <a:srgbClr val="D8C8B8"/>
            </a:solidFill>
            <a:prstDash val="solid"/>
          </a:ln>
        </p:spPr>
      </p:sp>
      <p:sp>
        <p:nvSpPr>
          <p:cNvPr id="23" name="Text 21"/>
          <p:cNvSpPr/>
          <p:nvPr/>
        </p:nvSpPr>
        <p:spPr>
          <a:xfrm>
            <a:off x="777240" y="4608576"/>
            <a:ext cx="384048" cy="228600"/>
          </a:xfrm>
          <a:prstGeom prst="rect">
            <a:avLst/>
          </a:prstGeom>
          <a:noFill/>
          <a:ln/>
        </p:spPr>
        <p:txBody>
          <a:bodyPr wrap="square" lIns="0" tIns="0" rIns="0" bIns="0" rtlCol="0" anchor="ctr">
            <a:normAutofit/>
          </a:bodyPr>
          <a:lstStyle/>
          <a:p>
            <a:pPr indent="0" marL="0">
              <a:buNone/>
            </a:pPr>
            <a:r>
              <a:rPr lang="en-US" sz="800" b="1" dirty="0">
                <a:solidFill>
                  <a:srgbClr val="C47A5A"/>
                </a:solidFill>
                <a:latin typeface="Segoe UI" pitchFamily="34" charset="0"/>
                <a:ea typeface="Segoe UI" pitchFamily="34" charset="-122"/>
                <a:cs typeface="Segoe UI" pitchFamily="34" charset="-120"/>
              </a:rPr>
              <a:t>05</a:t>
            </a:r>
            <a:endParaRPr lang="en-US" sz="800" dirty="0"/>
          </a:p>
        </p:txBody>
      </p:sp>
      <p:sp>
        <p:nvSpPr>
          <p:cNvPr id="24" name="Text 22"/>
          <p:cNvSpPr/>
          <p:nvPr/>
        </p:nvSpPr>
        <p:spPr>
          <a:xfrm>
            <a:off x="1225296" y="4581144"/>
            <a:ext cx="1764792" cy="274320"/>
          </a:xfrm>
          <a:prstGeom prst="rect">
            <a:avLst/>
          </a:prstGeom>
          <a:noFill/>
          <a:ln/>
        </p:spPr>
        <p:txBody>
          <a:bodyPr wrap="square" lIns="0" tIns="0" rIns="0" bIns="0" rtlCol="0" anchor="ctr">
            <a:normAutofit/>
          </a:bodyPr>
          <a:lstStyle/>
          <a:p>
            <a:pPr indent="0" marL="0">
              <a:buNone/>
            </a:pPr>
            <a:r>
              <a:rPr lang="en-US" sz="1120" b="1" dirty="0">
                <a:solidFill>
                  <a:srgbClr val="2F2522"/>
                </a:solidFill>
                <a:latin typeface="Segoe UI" pitchFamily="34" charset="0"/>
                <a:ea typeface="Segoe UI" pitchFamily="34" charset="-122"/>
                <a:cs typeface="Segoe UI" pitchFamily="34" charset="-120"/>
              </a:rPr>
              <a:t>Réclamations</a:t>
            </a:r>
            <a:endParaRPr lang="en-US" sz="1120" dirty="0"/>
          </a:p>
        </p:txBody>
      </p:sp>
      <p:sp>
        <p:nvSpPr>
          <p:cNvPr id="25" name="Text 23"/>
          <p:cNvSpPr/>
          <p:nvPr/>
        </p:nvSpPr>
        <p:spPr>
          <a:xfrm>
            <a:off x="1225296" y="4910328"/>
            <a:ext cx="1764792" cy="228600"/>
          </a:xfrm>
          <a:prstGeom prst="rect">
            <a:avLst/>
          </a:prstGeom>
          <a:noFill/>
          <a:ln/>
        </p:spPr>
        <p:txBody>
          <a:bodyPr wrap="square" lIns="0" tIns="0" rIns="0" bIns="0" rtlCol="0" anchor="ctr">
            <a:normAutofit/>
          </a:bodyPr>
          <a:lstStyle/>
          <a:p>
            <a:pPr indent="0" marL="0">
              <a:buNone/>
            </a:pPr>
            <a:r>
              <a:rPr lang="en-US" sz="790" dirty="0">
                <a:solidFill>
                  <a:srgbClr val="6D625D"/>
                </a:solidFill>
                <a:latin typeface="Segoe UI" pitchFamily="34" charset="0"/>
                <a:ea typeface="Segoe UI" pitchFamily="34" charset="-122"/>
                <a:cs typeface="Segoe UI" pitchFamily="34" charset="-120"/>
              </a:rPr>
              <a:t>Traçabilité des demandes</a:t>
            </a:r>
            <a:endParaRPr lang="en-US" sz="790" dirty="0"/>
          </a:p>
        </p:txBody>
      </p:sp>
      <p:sp>
        <p:nvSpPr>
          <p:cNvPr id="26" name="Shape 24"/>
          <p:cNvSpPr/>
          <p:nvPr/>
        </p:nvSpPr>
        <p:spPr>
          <a:xfrm>
            <a:off x="3447288" y="4462272"/>
            <a:ext cx="2596896" cy="877824"/>
          </a:xfrm>
          <a:prstGeom prst="roundRect">
            <a:avLst>
              <a:gd name="adj" fmla="val 10417"/>
            </a:avLst>
          </a:prstGeom>
          <a:solidFill>
            <a:srgbClr val="FAF4EA"/>
          </a:solidFill>
          <a:ln w="10160">
            <a:solidFill>
              <a:srgbClr val="D8C8B8"/>
            </a:solidFill>
            <a:prstDash val="solid"/>
          </a:ln>
        </p:spPr>
      </p:sp>
      <p:sp>
        <p:nvSpPr>
          <p:cNvPr id="27" name="Text 25"/>
          <p:cNvSpPr/>
          <p:nvPr/>
        </p:nvSpPr>
        <p:spPr>
          <a:xfrm>
            <a:off x="3611880" y="4608576"/>
            <a:ext cx="384048" cy="228600"/>
          </a:xfrm>
          <a:prstGeom prst="rect">
            <a:avLst/>
          </a:prstGeom>
          <a:noFill/>
          <a:ln/>
        </p:spPr>
        <p:txBody>
          <a:bodyPr wrap="square" lIns="0" tIns="0" rIns="0" bIns="0" rtlCol="0" anchor="ctr">
            <a:normAutofit/>
          </a:bodyPr>
          <a:lstStyle/>
          <a:p>
            <a:pPr indent="0" marL="0">
              <a:buNone/>
            </a:pPr>
            <a:r>
              <a:rPr lang="en-US" sz="800" b="1" dirty="0">
                <a:solidFill>
                  <a:srgbClr val="C47A5A"/>
                </a:solidFill>
                <a:latin typeface="Segoe UI" pitchFamily="34" charset="0"/>
                <a:ea typeface="Segoe UI" pitchFamily="34" charset="-122"/>
                <a:cs typeface="Segoe UI" pitchFamily="34" charset="-120"/>
              </a:rPr>
              <a:t>06</a:t>
            </a:r>
            <a:endParaRPr lang="en-US" sz="800" dirty="0"/>
          </a:p>
        </p:txBody>
      </p:sp>
      <p:sp>
        <p:nvSpPr>
          <p:cNvPr id="28" name="Text 26"/>
          <p:cNvSpPr/>
          <p:nvPr/>
        </p:nvSpPr>
        <p:spPr>
          <a:xfrm>
            <a:off x="4059936" y="4581144"/>
            <a:ext cx="1764792" cy="274320"/>
          </a:xfrm>
          <a:prstGeom prst="rect">
            <a:avLst/>
          </a:prstGeom>
          <a:noFill/>
          <a:ln/>
        </p:spPr>
        <p:txBody>
          <a:bodyPr wrap="square" lIns="0" tIns="0" rIns="0" bIns="0" rtlCol="0" anchor="ctr">
            <a:normAutofit/>
          </a:bodyPr>
          <a:lstStyle/>
          <a:p>
            <a:pPr indent="0" marL="0">
              <a:buNone/>
            </a:pPr>
            <a:r>
              <a:rPr lang="en-US" sz="1120" b="1" dirty="0">
                <a:solidFill>
                  <a:srgbClr val="2F2522"/>
                </a:solidFill>
                <a:latin typeface="Segoe UI" pitchFamily="34" charset="0"/>
                <a:ea typeface="Segoe UI" pitchFamily="34" charset="-122"/>
                <a:cs typeface="Segoe UI" pitchFamily="34" charset="-120"/>
              </a:rPr>
              <a:t>Projets</a:t>
            </a:r>
            <a:endParaRPr lang="en-US" sz="1120" dirty="0"/>
          </a:p>
        </p:txBody>
      </p:sp>
      <p:sp>
        <p:nvSpPr>
          <p:cNvPr id="29" name="Text 27"/>
          <p:cNvSpPr/>
          <p:nvPr/>
        </p:nvSpPr>
        <p:spPr>
          <a:xfrm>
            <a:off x="4059936" y="4910328"/>
            <a:ext cx="1764792" cy="228600"/>
          </a:xfrm>
          <a:prstGeom prst="rect">
            <a:avLst/>
          </a:prstGeom>
          <a:noFill/>
          <a:ln/>
        </p:spPr>
        <p:txBody>
          <a:bodyPr wrap="square" lIns="0" tIns="0" rIns="0" bIns="0" rtlCol="0" anchor="ctr">
            <a:normAutofit/>
          </a:bodyPr>
          <a:lstStyle/>
          <a:p>
            <a:pPr indent="0" marL="0">
              <a:buNone/>
            </a:pPr>
            <a:r>
              <a:rPr lang="en-US" sz="790" dirty="0">
                <a:solidFill>
                  <a:srgbClr val="6D625D"/>
                </a:solidFill>
                <a:latin typeface="Segoe UI" pitchFamily="34" charset="0"/>
                <a:ea typeface="Segoe UI" pitchFamily="34" charset="-122"/>
                <a:cs typeface="Segoe UI" pitchFamily="34" charset="-120"/>
              </a:rPr>
              <a:t>Encadrements et progression</a:t>
            </a:r>
            <a:endParaRPr lang="en-US" sz="790" dirty="0"/>
          </a:p>
        </p:txBody>
      </p:sp>
      <p:sp>
        <p:nvSpPr>
          <p:cNvPr id="30" name="Shape 28"/>
          <p:cNvSpPr/>
          <p:nvPr/>
        </p:nvSpPr>
        <p:spPr>
          <a:xfrm>
            <a:off x="6291072" y="1792224"/>
            <a:ext cx="0" cy="4242816"/>
          </a:xfrm>
          <a:prstGeom prst="line">
            <a:avLst/>
          </a:prstGeom>
          <a:noFill/>
          <a:ln w="12700">
            <a:solidFill>
              <a:srgbClr val="D8C8B8"/>
            </a:solidFill>
            <a:prstDash val="solid"/>
          </a:ln>
        </p:spPr>
      </p:sp>
      <p:sp>
        <p:nvSpPr>
          <p:cNvPr id="31" name="Text 29"/>
          <p:cNvSpPr/>
          <p:nvPr/>
        </p:nvSpPr>
        <p:spPr>
          <a:xfrm>
            <a:off x="6720840" y="1810512"/>
            <a:ext cx="4663440" cy="256032"/>
          </a:xfrm>
          <a:prstGeom prst="rect">
            <a:avLst/>
          </a:prstGeom>
          <a:noFill/>
          <a:ln/>
        </p:spPr>
        <p:txBody>
          <a:bodyPr wrap="square" lIns="0" tIns="0" rIns="0" bIns="0" rtlCol="0" anchor="ctr">
            <a:normAutofit/>
          </a:bodyPr>
          <a:lstStyle/>
          <a:p>
            <a:pPr indent="0" marL="0">
              <a:buNone/>
            </a:pPr>
            <a:r>
              <a:rPr lang="en-US" sz="820" b="1" spc="180" kern="0" dirty="0">
                <a:solidFill>
                  <a:srgbClr val="C47A5A"/>
                </a:solidFill>
                <a:latin typeface="Segoe UI" pitchFamily="34" charset="0"/>
                <a:ea typeface="Segoe UI" pitchFamily="34" charset="-122"/>
                <a:cs typeface="Segoe UI" pitchFamily="34" charset="-120"/>
              </a:rPr>
              <a:t>ARCHITECTURE TECHNIQUE</a:t>
            </a:r>
            <a:endParaRPr lang="en-US" sz="820" dirty="0"/>
          </a:p>
        </p:txBody>
      </p:sp>
      <p:sp>
        <p:nvSpPr>
          <p:cNvPr id="32" name="Shape 30"/>
          <p:cNvSpPr/>
          <p:nvPr/>
        </p:nvSpPr>
        <p:spPr>
          <a:xfrm>
            <a:off x="6711696" y="2212848"/>
            <a:ext cx="4800600" cy="841248"/>
          </a:xfrm>
          <a:prstGeom prst="roundRect">
            <a:avLst>
              <a:gd name="adj" fmla="val 10870"/>
            </a:avLst>
          </a:prstGeom>
          <a:solidFill>
            <a:srgbClr val="FAF4EA"/>
          </a:solidFill>
          <a:ln w="10160">
            <a:solidFill>
              <a:srgbClr val="D8C8B8"/>
            </a:solidFill>
            <a:prstDash val="solid"/>
          </a:ln>
        </p:spPr>
      </p:sp>
      <p:sp>
        <p:nvSpPr>
          <p:cNvPr id="33" name="Shape 31"/>
          <p:cNvSpPr/>
          <p:nvPr/>
        </p:nvSpPr>
        <p:spPr>
          <a:xfrm>
            <a:off x="6711696" y="2212848"/>
            <a:ext cx="109728" cy="841248"/>
          </a:xfrm>
          <a:prstGeom prst="rect">
            <a:avLst/>
          </a:prstGeom>
          <a:solidFill>
            <a:srgbClr val="5D4037"/>
          </a:solidFill>
          <a:ln w="12700">
            <a:solidFill>
              <a:srgbClr val="5D4037"/>
            </a:solidFill>
            <a:prstDash val="solid"/>
          </a:ln>
        </p:spPr>
      </p:sp>
      <p:sp>
        <p:nvSpPr>
          <p:cNvPr id="34" name="Text 32"/>
          <p:cNvSpPr/>
          <p:nvPr/>
        </p:nvSpPr>
        <p:spPr>
          <a:xfrm>
            <a:off x="7040880" y="2340864"/>
            <a:ext cx="1051560" cy="219456"/>
          </a:xfrm>
          <a:prstGeom prst="rect">
            <a:avLst/>
          </a:prstGeom>
          <a:noFill/>
          <a:ln/>
        </p:spPr>
        <p:txBody>
          <a:bodyPr wrap="square" lIns="0" tIns="0" rIns="0" bIns="0" rtlCol="0" anchor="ctr">
            <a:normAutofit/>
          </a:bodyPr>
          <a:lstStyle/>
          <a:p>
            <a:pPr indent="0" marL="0">
              <a:buNone/>
            </a:pPr>
            <a:r>
              <a:rPr lang="en-US" sz="720" b="1" spc="110" kern="0" dirty="0">
                <a:solidFill>
                  <a:srgbClr val="5D4037"/>
                </a:solidFill>
                <a:latin typeface="Segoe UI" pitchFamily="34" charset="0"/>
                <a:ea typeface="Segoe UI" pitchFamily="34" charset="-122"/>
                <a:cs typeface="Segoe UI" pitchFamily="34" charset="-120"/>
              </a:rPr>
              <a:t>INTERFACE</a:t>
            </a:r>
            <a:endParaRPr lang="en-US" sz="720" dirty="0"/>
          </a:p>
        </p:txBody>
      </p:sp>
      <p:sp>
        <p:nvSpPr>
          <p:cNvPr id="35" name="Text 33"/>
          <p:cNvSpPr/>
          <p:nvPr/>
        </p:nvSpPr>
        <p:spPr>
          <a:xfrm>
            <a:off x="8138160" y="2313432"/>
            <a:ext cx="2697480" cy="292608"/>
          </a:xfrm>
          <a:prstGeom prst="rect">
            <a:avLst/>
          </a:prstGeom>
          <a:noFill/>
          <a:ln/>
        </p:spPr>
        <p:txBody>
          <a:bodyPr wrap="square" lIns="0" tIns="0" rIns="0" bIns="0" rtlCol="0" anchor="ctr">
            <a:normAutofit/>
          </a:bodyPr>
          <a:lstStyle/>
          <a:p>
            <a:pPr indent="0" marL="0">
              <a:buNone/>
            </a:pPr>
            <a:r>
              <a:rPr lang="en-US" sz="1300" b="1" dirty="0">
                <a:solidFill>
                  <a:srgbClr val="2F2522"/>
                </a:solidFill>
                <a:latin typeface="Segoe UI" pitchFamily="34" charset="0"/>
                <a:ea typeface="Segoe UI" pitchFamily="34" charset="-122"/>
                <a:cs typeface="Segoe UI" pitchFamily="34" charset="-120"/>
              </a:rPr>
              <a:t>Flutter</a:t>
            </a:r>
            <a:endParaRPr lang="en-US" sz="1300" dirty="0"/>
          </a:p>
        </p:txBody>
      </p:sp>
      <p:sp>
        <p:nvSpPr>
          <p:cNvPr id="36" name="Text 34"/>
          <p:cNvSpPr/>
          <p:nvPr/>
        </p:nvSpPr>
        <p:spPr>
          <a:xfrm>
            <a:off x="8138160" y="2651760"/>
            <a:ext cx="2852928" cy="219456"/>
          </a:xfrm>
          <a:prstGeom prst="rect">
            <a:avLst/>
          </a:prstGeom>
          <a:noFill/>
          <a:ln/>
        </p:spPr>
        <p:txBody>
          <a:bodyPr wrap="square" lIns="0" tIns="0" rIns="0" bIns="0" rtlCol="0" anchor="ctr">
            <a:normAutofit/>
          </a:bodyPr>
          <a:lstStyle/>
          <a:p>
            <a:pPr indent="0" marL="0">
              <a:buNone/>
            </a:pPr>
            <a:r>
              <a:rPr lang="en-US" sz="830" dirty="0">
                <a:solidFill>
                  <a:srgbClr val="6D625D"/>
                </a:solidFill>
                <a:latin typeface="Segoe UI" pitchFamily="34" charset="0"/>
                <a:ea typeface="Segoe UI" pitchFamily="34" charset="-122"/>
                <a:cs typeface="Segoe UI" pitchFamily="34" charset="-120"/>
              </a:rPr>
              <a:t>Application web &amp; multiplateforme</a:t>
            </a:r>
            <a:endParaRPr lang="en-US" sz="830" dirty="0"/>
          </a:p>
        </p:txBody>
      </p:sp>
      <p:sp>
        <p:nvSpPr>
          <p:cNvPr id="37" name="Shape 35"/>
          <p:cNvSpPr/>
          <p:nvPr/>
        </p:nvSpPr>
        <p:spPr>
          <a:xfrm>
            <a:off x="9098280" y="3063240"/>
            <a:ext cx="0" cy="246888"/>
          </a:xfrm>
          <a:prstGeom prst="line">
            <a:avLst/>
          </a:prstGeom>
          <a:noFill/>
          <a:ln w="17780">
            <a:solidFill>
              <a:srgbClr val="C47A5A"/>
            </a:solidFill>
            <a:prstDash val="solid"/>
            <a:tailEnd type="triangle"/>
          </a:ln>
        </p:spPr>
      </p:sp>
      <p:sp>
        <p:nvSpPr>
          <p:cNvPr id="38" name="Shape 36"/>
          <p:cNvSpPr/>
          <p:nvPr/>
        </p:nvSpPr>
        <p:spPr>
          <a:xfrm>
            <a:off x="6711696" y="3319272"/>
            <a:ext cx="4800600" cy="841248"/>
          </a:xfrm>
          <a:prstGeom prst="roundRect">
            <a:avLst>
              <a:gd name="adj" fmla="val 10870"/>
            </a:avLst>
          </a:prstGeom>
          <a:solidFill>
            <a:srgbClr val="FAF4EA"/>
          </a:solidFill>
          <a:ln w="10160">
            <a:solidFill>
              <a:srgbClr val="D8C8B8"/>
            </a:solidFill>
            <a:prstDash val="solid"/>
          </a:ln>
        </p:spPr>
      </p:sp>
      <p:sp>
        <p:nvSpPr>
          <p:cNvPr id="39" name="Shape 37"/>
          <p:cNvSpPr/>
          <p:nvPr/>
        </p:nvSpPr>
        <p:spPr>
          <a:xfrm>
            <a:off x="6711696" y="3319272"/>
            <a:ext cx="109728" cy="841248"/>
          </a:xfrm>
          <a:prstGeom prst="rect">
            <a:avLst/>
          </a:prstGeom>
          <a:solidFill>
            <a:srgbClr val="C47A5A"/>
          </a:solidFill>
          <a:ln w="12700">
            <a:solidFill>
              <a:srgbClr val="C47A5A"/>
            </a:solidFill>
            <a:prstDash val="solid"/>
          </a:ln>
        </p:spPr>
      </p:sp>
      <p:sp>
        <p:nvSpPr>
          <p:cNvPr id="40" name="Text 38"/>
          <p:cNvSpPr/>
          <p:nvPr/>
        </p:nvSpPr>
        <p:spPr>
          <a:xfrm>
            <a:off x="7040880" y="3447288"/>
            <a:ext cx="1051560" cy="219456"/>
          </a:xfrm>
          <a:prstGeom prst="rect">
            <a:avLst/>
          </a:prstGeom>
          <a:noFill/>
          <a:ln/>
        </p:spPr>
        <p:txBody>
          <a:bodyPr wrap="square" lIns="0" tIns="0" rIns="0" bIns="0" rtlCol="0" anchor="ctr">
            <a:normAutofit/>
          </a:bodyPr>
          <a:lstStyle/>
          <a:p>
            <a:pPr indent="0" marL="0">
              <a:buNone/>
            </a:pPr>
            <a:r>
              <a:rPr lang="en-US" sz="720" b="1" spc="110" kern="0" dirty="0">
                <a:solidFill>
                  <a:srgbClr val="C47A5A"/>
                </a:solidFill>
                <a:latin typeface="Segoe UI" pitchFamily="34" charset="0"/>
                <a:ea typeface="Segoe UI" pitchFamily="34" charset="-122"/>
                <a:cs typeface="Segoe UI" pitchFamily="34" charset="-120"/>
              </a:rPr>
              <a:t>API</a:t>
            </a:r>
            <a:endParaRPr lang="en-US" sz="720" dirty="0"/>
          </a:p>
        </p:txBody>
      </p:sp>
      <p:sp>
        <p:nvSpPr>
          <p:cNvPr id="41" name="Text 39"/>
          <p:cNvSpPr/>
          <p:nvPr/>
        </p:nvSpPr>
        <p:spPr>
          <a:xfrm>
            <a:off x="8138160" y="3419856"/>
            <a:ext cx="2697480" cy="292608"/>
          </a:xfrm>
          <a:prstGeom prst="rect">
            <a:avLst/>
          </a:prstGeom>
          <a:noFill/>
          <a:ln/>
        </p:spPr>
        <p:txBody>
          <a:bodyPr wrap="square" lIns="0" tIns="0" rIns="0" bIns="0" rtlCol="0" anchor="ctr">
            <a:normAutofit/>
          </a:bodyPr>
          <a:lstStyle/>
          <a:p>
            <a:pPr indent="0" marL="0">
              <a:buNone/>
            </a:pPr>
            <a:r>
              <a:rPr lang="en-US" sz="1300" b="1" dirty="0">
                <a:solidFill>
                  <a:srgbClr val="2F2522"/>
                </a:solidFill>
                <a:latin typeface="Segoe UI" pitchFamily="34" charset="0"/>
                <a:ea typeface="Segoe UI" pitchFamily="34" charset="-122"/>
                <a:cs typeface="Segoe UI" pitchFamily="34" charset="-120"/>
              </a:rPr>
              <a:t>Python · FastAPI</a:t>
            </a:r>
            <a:endParaRPr lang="en-US" sz="1300" dirty="0"/>
          </a:p>
        </p:txBody>
      </p:sp>
      <p:sp>
        <p:nvSpPr>
          <p:cNvPr id="42" name="Text 40"/>
          <p:cNvSpPr/>
          <p:nvPr/>
        </p:nvSpPr>
        <p:spPr>
          <a:xfrm>
            <a:off x="8138160" y="3758184"/>
            <a:ext cx="2852928" cy="219456"/>
          </a:xfrm>
          <a:prstGeom prst="rect">
            <a:avLst/>
          </a:prstGeom>
          <a:noFill/>
          <a:ln/>
        </p:spPr>
        <p:txBody>
          <a:bodyPr wrap="square" lIns="0" tIns="0" rIns="0" bIns="0" rtlCol="0" anchor="ctr">
            <a:normAutofit/>
          </a:bodyPr>
          <a:lstStyle/>
          <a:p>
            <a:pPr indent="0" marL="0">
              <a:buNone/>
            </a:pPr>
            <a:r>
              <a:rPr lang="en-US" sz="830" dirty="0">
                <a:solidFill>
                  <a:srgbClr val="6D625D"/>
                </a:solidFill>
                <a:latin typeface="Segoe UI" pitchFamily="34" charset="0"/>
                <a:ea typeface="Segoe UI" pitchFamily="34" charset="-122"/>
                <a:cs typeface="Segoe UI" pitchFamily="34" charset="-120"/>
              </a:rPr>
              <a:t>Logique métier, sécurité, services REST</a:t>
            </a:r>
            <a:endParaRPr lang="en-US" sz="830" dirty="0"/>
          </a:p>
        </p:txBody>
      </p:sp>
      <p:sp>
        <p:nvSpPr>
          <p:cNvPr id="43" name="Shape 41"/>
          <p:cNvSpPr/>
          <p:nvPr/>
        </p:nvSpPr>
        <p:spPr>
          <a:xfrm>
            <a:off x="9098280" y="4169664"/>
            <a:ext cx="0" cy="246888"/>
          </a:xfrm>
          <a:prstGeom prst="line">
            <a:avLst/>
          </a:prstGeom>
          <a:noFill/>
          <a:ln w="17780">
            <a:solidFill>
              <a:srgbClr val="C47A5A"/>
            </a:solidFill>
            <a:prstDash val="solid"/>
            <a:tailEnd type="triangle"/>
          </a:ln>
        </p:spPr>
      </p:sp>
      <p:sp>
        <p:nvSpPr>
          <p:cNvPr id="44" name="Shape 42"/>
          <p:cNvSpPr/>
          <p:nvPr/>
        </p:nvSpPr>
        <p:spPr>
          <a:xfrm>
            <a:off x="6711696" y="4425696"/>
            <a:ext cx="4800600" cy="841248"/>
          </a:xfrm>
          <a:prstGeom prst="roundRect">
            <a:avLst>
              <a:gd name="adj" fmla="val 10870"/>
            </a:avLst>
          </a:prstGeom>
          <a:solidFill>
            <a:srgbClr val="FAF4EA"/>
          </a:solidFill>
          <a:ln w="10160">
            <a:solidFill>
              <a:srgbClr val="D8C8B8"/>
            </a:solidFill>
            <a:prstDash val="solid"/>
          </a:ln>
        </p:spPr>
      </p:sp>
      <p:sp>
        <p:nvSpPr>
          <p:cNvPr id="45" name="Shape 43"/>
          <p:cNvSpPr/>
          <p:nvPr/>
        </p:nvSpPr>
        <p:spPr>
          <a:xfrm>
            <a:off x="6711696" y="4425696"/>
            <a:ext cx="109728" cy="841248"/>
          </a:xfrm>
          <a:prstGeom prst="rect">
            <a:avLst/>
          </a:prstGeom>
          <a:solidFill>
            <a:srgbClr val="4F7A5A"/>
          </a:solidFill>
          <a:ln w="12700">
            <a:solidFill>
              <a:srgbClr val="4F7A5A"/>
            </a:solidFill>
            <a:prstDash val="solid"/>
          </a:ln>
        </p:spPr>
      </p:sp>
      <p:sp>
        <p:nvSpPr>
          <p:cNvPr id="46" name="Text 44"/>
          <p:cNvSpPr/>
          <p:nvPr/>
        </p:nvSpPr>
        <p:spPr>
          <a:xfrm>
            <a:off x="7040880" y="4553712"/>
            <a:ext cx="1051560" cy="219456"/>
          </a:xfrm>
          <a:prstGeom prst="rect">
            <a:avLst/>
          </a:prstGeom>
          <a:noFill/>
          <a:ln/>
        </p:spPr>
        <p:txBody>
          <a:bodyPr wrap="square" lIns="0" tIns="0" rIns="0" bIns="0" rtlCol="0" anchor="ctr">
            <a:normAutofit/>
          </a:bodyPr>
          <a:lstStyle/>
          <a:p>
            <a:pPr indent="0" marL="0">
              <a:buNone/>
            </a:pPr>
            <a:r>
              <a:rPr lang="en-US" sz="720" b="1" spc="110" kern="0" dirty="0">
                <a:solidFill>
                  <a:srgbClr val="4F7A5A"/>
                </a:solidFill>
                <a:latin typeface="Segoe UI" pitchFamily="34" charset="0"/>
                <a:ea typeface="Segoe UI" pitchFamily="34" charset="-122"/>
                <a:cs typeface="Segoe UI" pitchFamily="34" charset="-120"/>
              </a:rPr>
              <a:t>DONNÉES</a:t>
            </a:r>
            <a:endParaRPr lang="en-US" sz="720" dirty="0"/>
          </a:p>
        </p:txBody>
      </p:sp>
      <p:sp>
        <p:nvSpPr>
          <p:cNvPr id="47" name="Text 45"/>
          <p:cNvSpPr/>
          <p:nvPr/>
        </p:nvSpPr>
        <p:spPr>
          <a:xfrm>
            <a:off x="8138160" y="4526280"/>
            <a:ext cx="2697480" cy="292608"/>
          </a:xfrm>
          <a:prstGeom prst="rect">
            <a:avLst/>
          </a:prstGeom>
          <a:noFill/>
          <a:ln/>
        </p:spPr>
        <p:txBody>
          <a:bodyPr wrap="square" lIns="0" tIns="0" rIns="0" bIns="0" rtlCol="0" anchor="ctr">
            <a:normAutofit/>
          </a:bodyPr>
          <a:lstStyle/>
          <a:p>
            <a:pPr indent="0" marL="0">
              <a:buNone/>
            </a:pPr>
            <a:r>
              <a:rPr lang="en-US" sz="1300" b="1" dirty="0">
                <a:solidFill>
                  <a:srgbClr val="2F2522"/>
                </a:solidFill>
                <a:latin typeface="Segoe UI" pitchFamily="34" charset="0"/>
                <a:ea typeface="Segoe UI" pitchFamily="34" charset="-122"/>
                <a:cs typeface="Segoe UI" pitchFamily="34" charset="-120"/>
              </a:rPr>
              <a:t>MySQL</a:t>
            </a:r>
            <a:endParaRPr lang="en-US" sz="1300" dirty="0"/>
          </a:p>
        </p:txBody>
      </p:sp>
      <p:sp>
        <p:nvSpPr>
          <p:cNvPr id="48" name="Text 46"/>
          <p:cNvSpPr/>
          <p:nvPr/>
        </p:nvSpPr>
        <p:spPr>
          <a:xfrm>
            <a:off x="8138160" y="4864608"/>
            <a:ext cx="2852928" cy="219456"/>
          </a:xfrm>
          <a:prstGeom prst="rect">
            <a:avLst/>
          </a:prstGeom>
          <a:noFill/>
          <a:ln/>
        </p:spPr>
        <p:txBody>
          <a:bodyPr wrap="square" lIns="0" tIns="0" rIns="0" bIns="0" rtlCol="0" anchor="ctr">
            <a:normAutofit/>
          </a:bodyPr>
          <a:lstStyle/>
          <a:p>
            <a:pPr indent="0" marL="0">
              <a:buNone/>
            </a:pPr>
            <a:r>
              <a:rPr lang="en-US" sz="830" dirty="0">
                <a:solidFill>
                  <a:srgbClr val="6D625D"/>
                </a:solidFill>
                <a:latin typeface="Segoe UI" pitchFamily="34" charset="0"/>
                <a:ea typeface="Segoe UI" pitchFamily="34" charset="-122"/>
                <a:cs typeface="Segoe UI" pitchFamily="34" charset="-120"/>
              </a:rPr>
              <a:t>Persistance académique structurée</a:t>
            </a:r>
            <a:endParaRPr lang="en-US" sz="830" dirty="0"/>
          </a:p>
        </p:txBody>
      </p:sp>
      <p:sp>
        <p:nvSpPr>
          <p:cNvPr id="49" name="Shape 47"/>
          <p:cNvSpPr/>
          <p:nvPr/>
        </p:nvSpPr>
        <p:spPr>
          <a:xfrm>
            <a:off x="6903720" y="5577840"/>
            <a:ext cx="2212848" cy="310896"/>
          </a:xfrm>
          <a:prstGeom prst="roundRect">
            <a:avLst>
              <a:gd name="adj" fmla="val 50000"/>
            </a:avLst>
          </a:prstGeom>
          <a:solidFill>
            <a:srgbClr val="F5EFE6"/>
          </a:solidFill>
          <a:ln w="12700">
            <a:solidFill>
              <a:srgbClr val="F5EFE6"/>
            </a:solidFill>
            <a:prstDash val="solid"/>
          </a:ln>
        </p:spPr>
      </p:sp>
      <p:sp>
        <p:nvSpPr>
          <p:cNvPr id="50" name="Text 48"/>
          <p:cNvSpPr/>
          <p:nvPr/>
        </p:nvSpPr>
        <p:spPr>
          <a:xfrm>
            <a:off x="6976872" y="5586984"/>
            <a:ext cx="2066544" cy="283464"/>
          </a:xfrm>
          <a:prstGeom prst="rect">
            <a:avLst/>
          </a:prstGeom>
          <a:noFill/>
          <a:ln/>
        </p:spPr>
        <p:txBody>
          <a:bodyPr wrap="square" lIns="0" tIns="0" rIns="0" bIns="0" rtlCol="0" anchor="ctr">
            <a:normAutofit/>
          </a:bodyPr>
          <a:lstStyle/>
          <a:p>
            <a:pPr algn="ctr" indent="0" marL="0">
              <a:buNone/>
            </a:pPr>
            <a:r>
              <a:rPr lang="en-US" sz="820" b="1" dirty="0">
                <a:solidFill>
                  <a:srgbClr val="5D4037"/>
                </a:solidFill>
                <a:latin typeface="Segoe UI" pitchFamily="34" charset="0"/>
                <a:ea typeface="Segoe UI" pitchFamily="34" charset="-122"/>
                <a:cs typeface="Segoe UI" pitchFamily="34" charset="-120"/>
              </a:rPr>
              <a:t>AUTHENTIFICATION PAR RÔLES</a:t>
            </a:r>
            <a:endParaRPr lang="en-US" sz="820" dirty="0"/>
          </a:p>
        </p:txBody>
      </p:sp>
      <p:sp>
        <p:nvSpPr>
          <p:cNvPr id="51" name="Shape 49"/>
          <p:cNvSpPr/>
          <p:nvPr/>
        </p:nvSpPr>
        <p:spPr>
          <a:xfrm>
            <a:off x="9299448" y="5577840"/>
            <a:ext cx="1874520" cy="310896"/>
          </a:xfrm>
          <a:prstGeom prst="roundRect">
            <a:avLst>
              <a:gd name="adj" fmla="val 50000"/>
            </a:avLst>
          </a:prstGeom>
          <a:solidFill>
            <a:srgbClr val="F5EFE6"/>
          </a:solidFill>
          <a:ln w="12700">
            <a:solidFill>
              <a:srgbClr val="F5EFE6"/>
            </a:solidFill>
            <a:prstDash val="solid"/>
          </a:ln>
        </p:spPr>
      </p:sp>
      <p:sp>
        <p:nvSpPr>
          <p:cNvPr id="52" name="Text 50"/>
          <p:cNvSpPr/>
          <p:nvPr/>
        </p:nvSpPr>
        <p:spPr>
          <a:xfrm>
            <a:off x="9372600" y="5586984"/>
            <a:ext cx="1728216" cy="283464"/>
          </a:xfrm>
          <a:prstGeom prst="rect">
            <a:avLst/>
          </a:prstGeom>
          <a:noFill/>
          <a:ln/>
        </p:spPr>
        <p:txBody>
          <a:bodyPr wrap="square" lIns="0" tIns="0" rIns="0" bIns="0" rtlCol="0" anchor="ctr">
            <a:normAutofit/>
          </a:bodyPr>
          <a:lstStyle/>
          <a:p>
            <a:pPr algn="ctr" indent="0" marL="0">
              <a:buNone/>
            </a:pPr>
            <a:r>
              <a:rPr lang="en-US" sz="820" b="1" dirty="0">
                <a:solidFill>
                  <a:srgbClr val="5D4037"/>
                </a:solidFill>
                <a:latin typeface="Segoe UI" pitchFamily="34" charset="0"/>
                <a:ea typeface="Segoe UI" pitchFamily="34" charset="-122"/>
                <a:cs typeface="Segoe UI" pitchFamily="34" charset="-120"/>
              </a:rPr>
              <a:t>API REST SÉCURISÉE</a:t>
            </a:r>
            <a:endParaRPr lang="en-US" sz="820" dirty="0"/>
          </a:p>
        </p:txBody>
      </p:sp>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4206240" cy="228600"/>
          </a:xfrm>
          <a:prstGeom prst="rect">
            <a:avLst/>
          </a:prstGeom>
          <a:noFill/>
          <a:ln/>
        </p:spPr>
        <p:txBody>
          <a:bodyPr wrap="square" lIns="0" tIns="0" rIns="0" bIns="0" rtlCol="0" anchor="ctr">
            <a:normAutofit/>
          </a:bodyPr>
          <a:lstStyle/>
          <a:p>
            <a:pPr indent="0" marL="0">
              <a:buNone/>
            </a:pPr>
            <a:r>
              <a:rPr lang="en-US" sz="800" b="1" spc="220" kern="0" dirty="0">
                <a:solidFill>
                  <a:srgbClr val="C47A5A"/>
                </a:solidFill>
                <a:latin typeface="Segoe UI" pitchFamily="34" charset="0"/>
                <a:ea typeface="Segoe UI" pitchFamily="34" charset="-122"/>
                <a:cs typeface="Segoe UI" pitchFamily="34" charset="-120"/>
              </a:rPr>
              <a:t>04 — LA DÉMONSTRATION</a:t>
            </a:r>
            <a:endParaRPr lang="en-US" sz="800" dirty="0"/>
          </a:p>
        </p:txBody>
      </p:sp>
      <p:sp>
        <p:nvSpPr>
          <p:cNvPr id="3" name="Text 1"/>
          <p:cNvSpPr/>
          <p:nvPr/>
        </p:nvSpPr>
        <p:spPr>
          <a:xfrm>
            <a:off x="566928" y="667512"/>
            <a:ext cx="10881360" cy="566928"/>
          </a:xfrm>
          <a:prstGeom prst="rect">
            <a:avLst/>
          </a:prstGeom>
          <a:noFill/>
          <a:ln/>
        </p:spPr>
        <p:txBody>
          <a:bodyPr wrap="square" lIns="0" tIns="0" rIns="0" bIns="0" rtlCol="0" anchor="ctr">
            <a:normAutofit/>
          </a:bodyPr>
          <a:lstStyle/>
          <a:p>
            <a:pPr indent="0" marL="0">
              <a:buNone/>
            </a:pPr>
            <a:r>
              <a:rPr lang="en-US" sz="2700" b="1" dirty="0">
                <a:solidFill>
                  <a:srgbClr val="2F2522"/>
                </a:solidFill>
                <a:latin typeface="Segoe UI" pitchFamily="34" charset="0"/>
                <a:ea typeface="Segoe UI" pitchFamily="34" charset="-122"/>
                <a:cs typeface="Segoe UI" pitchFamily="34" charset="-120"/>
              </a:rPr>
              <a:t>Du besoin à l’action, en quatre étapes</a:t>
            </a:r>
            <a:endParaRPr lang="en-US" sz="2700" dirty="0"/>
          </a:p>
        </p:txBody>
      </p:sp>
      <p:sp>
        <p:nvSpPr>
          <p:cNvPr id="4" name="Text 2"/>
          <p:cNvSpPr/>
          <p:nvPr/>
        </p:nvSpPr>
        <p:spPr>
          <a:xfrm>
            <a:off x="585216" y="1261872"/>
            <a:ext cx="10515600" cy="329184"/>
          </a:xfrm>
          <a:prstGeom prst="rect">
            <a:avLst/>
          </a:prstGeom>
          <a:noFill/>
          <a:ln/>
        </p:spPr>
        <p:txBody>
          <a:bodyPr wrap="square" lIns="0" tIns="0" rIns="0" bIns="0" rtlCol="0" anchor="ctr">
            <a:normAutofit/>
          </a:bodyPr>
          <a:lstStyle/>
          <a:p>
            <a:pPr indent="0" marL="0">
              <a:buNone/>
            </a:pPr>
            <a:r>
              <a:rPr lang="en-US" sz="1120" dirty="0">
                <a:solidFill>
                  <a:srgbClr val="6D625D"/>
                </a:solidFill>
                <a:latin typeface="Segoe UI" pitchFamily="34" charset="0"/>
                <a:ea typeface="Segoe UI" pitchFamily="34" charset="-122"/>
                <a:cs typeface="Segoe UI" pitchFamily="34" charset="-120"/>
              </a:rPr>
              <a:t>Je vous montre maintenant comment Smart Faculty simplifie un parcours académique réel.</a:t>
            </a:r>
            <a:endParaRPr lang="en-US" sz="1120" dirty="0"/>
          </a:p>
        </p:txBody>
      </p:sp>
      <p:sp>
        <p:nvSpPr>
          <p:cNvPr id="5" name="Shape 3"/>
          <p:cNvSpPr/>
          <p:nvPr/>
        </p:nvSpPr>
        <p:spPr>
          <a:xfrm>
            <a:off x="941832" y="2578608"/>
            <a:ext cx="0" cy="393192"/>
          </a:xfrm>
          <a:prstGeom prst="line">
            <a:avLst/>
          </a:prstGeom>
          <a:noFill/>
          <a:ln w="25400">
            <a:solidFill>
              <a:srgbClr val="D8C8B8"/>
            </a:solidFill>
            <a:prstDash val="solid"/>
          </a:ln>
        </p:spPr>
      </p:sp>
      <p:sp>
        <p:nvSpPr>
          <p:cNvPr id="6" name="Shape 4"/>
          <p:cNvSpPr/>
          <p:nvPr/>
        </p:nvSpPr>
        <p:spPr>
          <a:xfrm>
            <a:off x="685800" y="2011680"/>
            <a:ext cx="512064" cy="512064"/>
          </a:xfrm>
          <a:prstGeom prst="ellipse">
            <a:avLst/>
          </a:prstGeom>
          <a:solidFill>
            <a:srgbClr val="5D4037"/>
          </a:solidFill>
          <a:ln w="12700">
            <a:solidFill>
              <a:srgbClr val="FFFFFF">
                <a:alpha val="0"/>
              </a:srgbClr>
            </a:solidFill>
            <a:prstDash val="solid"/>
          </a:ln>
        </p:spPr>
      </p:sp>
      <p:sp>
        <p:nvSpPr>
          <p:cNvPr id="7" name="Text 5"/>
          <p:cNvSpPr/>
          <p:nvPr/>
        </p:nvSpPr>
        <p:spPr>
          <a:xfrm>
            <a:off x="685800" y="2011680"/>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8" name="Text 6"/>
          <p:cNvSpPr/>
          <p:nvPr/>
        </p:nvSpPr>
        <p:spPr>
          <a:xfrm>
            <a:off x="1444752" y="1920240"/>
            <a:ext cx="2359152" cy="310896"/>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Se connecter</a:t>
            </a:r>
            <a:endParaRPr lang="en-US" sz="1320" dirty="0"/>
          </a:p>
        </p:txBody>
      </p:sp>
      <p:sp>
        <p:nvSpPr>
          <p:cNvPr id="9" name="Text 7"/>
          <p:cNvSpPr/>
          <p:nvPr/>
        </p:nvSpPr>
        <p:spPr>
          <a:xfrm>
            <a:off x="1444752" y="2276856"/>
            <a:ext cx="2651760" cy="274320"/>
          </a:xfrm>
          <a:prstGeom prst="rect">
            <a:avLst/>
          </a:prstGeom>
          <a:noFill/>
          <a:ln/>
        </p:spPr>
        <p:txBody>
          <a:bodyPr wrap="square" lIns="0" tIns="0" rIns="0" bIns="0" rtlCol="0" anchor="ctr">
            <a:normAutofit/>
          </a:bodyPr>
          <a:lstStyle/>
          <a:p>
            <a:pPr indent="0" marL="0">
              <a:buNone/>
            </a:pPr>
            <a:r>
              <a:rPr lang="en-US" sz="920" dirty="0">
                <a:solidFill>
                  <a:srgbClr val="6D625D"/>
                </a:solidFill>
                <a:latin typeface="Segoe UI" pitchFamily="34" charset="0"/>
                <a:ea typeface="Segoe UI" pitchFamily="34" charset="-122"/>
                <a:cs typeface="Segoe UI" pitchFamily="34" charset="-120"/>
              </a:rPr>
              <a:t>Accès sécurisé selon le rôle</a:t>
            </a:r>
            <a:endParaRPr lang="en-US" sz="920" dirty="0"/>
          </a:p>
        </p:txBody>
      </p:sp>
      <p:sp>
        <p:nvSpPr>
          <p:cNvPr id="10" name="Shape 8"/>
          <p:cNvSpPr/>
          <p:nvPr/>
        </p:nvSpPr>
        <p:spPr>
          <a:xfrm>
            <a:off x="941832" y="3566160"/>
            <a:ext cx="0" cy="393192"/>
          </a:xfrm>
          <a:prstGeom prst="line">
            <a:avLst/>
          </a:prstGeom>
          <a:noFill/>
          <a:ln w="25400">
            <a:solidFill>
              <a:srgbClr val="D8C8B8"/>
            </a:solidFill>
            <a:prstDash val="solid"/>
          </a:ln>
        </p:spPr>
      </p:sp>
      <p:sp>
        <p:nvSpPr>
          <p:cNvPr id="11" name="Shape 9"/>
          <p:cNvSpPr/>
          <p:nvPr/>
        </p:nvSpPr>
        <p:spPr>
          <a:xfrm>
            <a:off x="685800" y="2999232"/>
            <a:ext cx="512064" cy="512064"/>
          </a:xfrm>
          <a:prstGeom prst="ellipse">
            <a:avLst/>
          </a:prstGeom>
          <a:solidFill>
            <a:srgbClr val="C47A5A"/>
          </a:solidFill>
          <a:ln w="12700">
            <a:solidFill>
              <a:srgbClr val="FFFFFF">
                <a:alpha val="0"/>
              </a:srgbClr>
            </a:solidFill>
            <a:prstDash val="solid"/>
          </a:ln>
        </p:spPr>
      </p:sp>
      <p:sp>
        <p:nvSpPr>
          <p:cNvPr id="12" name="Text 10"/>
          <p:cNvSpPr/>
          <p:nvPr/>
        </p:nvSpPr>
        <p:spPr>
          <a:xfrm>
            <a:off x="685800" y="2999232"/>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02</a:t>
            </a:r>
            <a:endParaRPr lang="en-US" sz="1200" dirty="0"/>
          </a:p>
        </p:txBody>
      </p:sp>
      <p:sp>
        <p:nvSpPr>
          <p:cNvPr id="13" name="Text 11"/>
          <p:cNvSpPr/>
          <p:nvPr/>
        </p:nvSpPr>
        <p:spPr>
          <a:xfrm>
            <a:off x="1444752" y="2907792"/>
            <a:ext cx="2359152" cy="310896"/>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Voir l’essentiel</a:t>
            </a:r>
            <a:endParaRPr lang="en-US" sz="1320" dirty="0"/>
          </a:p>
        </p:txBody>
      </p:sp>
      <p:sp>
        <p:nvSpPr>
          <p:cNvPr id="14" name="Text 12"/>
          <p:cNvSpPr/>
          <p:nvPr/>
        </p:nvSpPr>
        <p:spPr>
          <a:xfrm>
            <a:off x="1444752" y="3264408"/>
            <a:ext cx="2651760" cy="274320"/>
          </a:xfrm>
          <a:prstGeom prst="rect">
            <a:avLst/>
          </a:prstGeom>
          <a:noFill/>
          <a:ln/>
        </p:spPr>
        <p:txBody>
          <a:bodyPr wrap="square" lIns="0" tIns="0" rIns="0" bIns="0" rtlCol="0" anchor="ctr">
            <a:normAutofit/>
          </a:bodyPr>
          <a:lstStyle/>
          <a:p>
            <a:pPr indent="0" marL="0">
              <a:buNone/>
            </a:pPr>
            <a:r>
              <a:rPr lang="en-US" sz="920" dirty="0">
                <a:solidFill>
                  <a:srgbClr val="6D625D"/>
                </a:solidFill>
                <a:latin typeface="Segoe UI" pitchFamily="34" charset="0"/>
                <a:ea typeface="Segoe UI" pitchFamily="34" charset="-122"/>
                <a:cs typeface="Segoe UI" pitchFamily="34" charset="-120"/>
              </a:rPr>
              <a:t>Tableau de bord personnalisé</a:t>
            </a:r>
            <a:endParaRPr lang="en-US" sz="920" dirty="0"/>
          </a:p>
        </p:txBody>
      </p:sp>
      <p:sp>
        <p:nvSpPr>
          <p:cNvPr id="15" name="Shape 13"/>
          <p:cNvSpPr/>
          <p:nvPr/>
        </p:nvSpPr>
        <p:spPr>
          <a:xfrm>
            <a:off x="941832" y="4553712"/>
            <a:ext cx="0" cy="393192"/>
          </a:xfrm>
          <a:prstGeom prst="line">
            <a:avLst/>
          </a:prstGeom>
          <a:noFill/>
          <a:ln w="25400">
            <a:solidFill>
              <a:srgbClr val="D8C8B8"/>
            </a:solidFill>
            <a:prstDash val="solid"/>
          </a:ln>
        </p:spPr>
      </p:sp>
      <p:sp>
        <p:nvSpPr>
          <p:cNvPr id="16" name="Shape 14"/>
          <p:cNvSpPr/>
          <p:nvPr/>
        </p:nvSpPr>
        <p:spPr>
          <a:xfrm>
            <a:off x="685800" y="3986784"/>
            <a:ext cx="512064" cy="512064"/>
          </a:xfrm>
          <a:prstGeom prst="ellipse">
            <a:avLst/>
          </a:prstGeom>
          <a:solidFill>
            <a:srgbClr val="6F8A8A"/>
          </a:solidFill>
          <a:ln w="12700">
            <a:solidFill>
              <a:srgbClr val="FFFFFF">
                <a:alpha val="0"/>
              </a:srgbClr>
            </a:solidFill>
            <a:prstDash val="solid"/>
          </a:ln>
        </p:spPr>
      </p:sp>
      <p:sp>
        <p:nvSpPr>
          <p:cNvPr id="17" name="Text 15"/>
          <p:cNvSpPr/>
          <p:nvPr/>
        </p:nvSpPr>
        <p:spPr>
          <a:xfrm>
            <a:off x="685800" y="3986784"/>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03</a:t>
            </a:r>
            <a:endParaRPr lang="en-US" sz="1200" dirty="0"/>
          </a:p>
        </p:txBody>
      </p:sp>
      <p:sp>
        <p:nvSpPr>
          <p:cNvPr id="18" name="Text 16"/>
          <p:cNvSpPr/>
          <p:nvPr/>
        </p:nvSpPr>
        <p:spPr>
          <a:xfrm>
            <a:off x="1444752" y="3895344"/>
            <a:ext cx="2359152" cy="310896"/>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Réaliser l’action</a:t>
            </a:r>
            <a:endParaRPr lang="en-US" sz="1320" dirty="0"/>
          </a:p>
        </p:txBody>
      </p:sp>
      <p:sp>
        <p:nvSpPr>
          <p:cNvPr id="19" name="Text 17"/>
          <p:cNvSpPr/>
          <p:nvPr/>
        </p:nvSpPr>
        <p:spPr>
          <a:xfrm>
            <a:off x="1444752" y="4251960"/>
            <a:ext cx="2651760" cy="274320"/>
          </a:xfrm>
          <a:prstGeom prst="rect">
            <a:avLst/>
          </a:prstGeom>
          <a:noFill/>
          <a:ln/>
        </p:spPr>
        <p:txBody>
          <a:bodyPr wrap="square" lIns="0" tIns="0" rIns="0" bIns="0" rtlCol="0" anchor="ctr">
            <a:normAutofit/>
          </a:bodyPr>
          <a:lstStyle/>
          <a:p>
            <a:pPr indent="0" marL="0">
              <a:buNone/>
            </a:pPr>
            <a:r>
              <a:rPr lang="en-US" sz="920" dirty="0">
                <a:solidFill>
                  <a:srgbClr val="6D625D"/>
                </a:solidFill>
                <a:latin typeface="Segoe UI" pitchFamily="34" charset="0"/>
                <a:ea typeface="Segoe UI" pitchFamily="34" charset="-122"/>
                <a:cs typeface="Segoe UI" pitchFamily="34" charset="-120"/>
              </a:rPr>
              <a:t>Notes, annonces ou suivi</a:t>
            </a:r>
            <a:endParaRPr lang="en-US" sz="920" dirty="0"/>
          </a:p>
        </p:txBody>
      </p:sp>
      <p:sp>
        <p:nvSpPr>
          <p:cNvPr id="20" name="Shape 18"/>
          <p:cNvSpPr/>
          <p:nvPr/>
        </p:nvSpPr>
        <p:spPr>
          <a:xfrm>
            <a:off x="685800" y="4974336"/>
            <a:ext cx="512064" cy="512064"/>
          </a:xfrm>
          <a:prstGeom prst="ellipse">
            <a:avLst/>
          </a:prstGeom>
          <a:solidFill>
            <a:srgbClr val="4F7A5A"/>
          </a:solidFill>
          <a:ln w="12700">
            <a:solidFill>
              <a:srgbClr val="FFFFFF">
                <a:alpha val="0"/>
              </a:srgbClr>
            </a:solidFill>
            <a:prstDash val="solid"/>
          </a:ln>
        </p:spPr>
      </p:sp>
      <p:sp>
        <p:nvSpPr>
          <p:cNvPr id="21" name="Text 19"/>
          <p:cNvSpPr/>
          <p:nvPr/>
        </p:nvSpPr>
        <p:spPr>
          <a:xfrm>
            <a:off x="685800" y="4974336"/>
            <a:ext cx="512064" cy="51206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04</a:t>
            </a:r>
            <a:endParaRPr lang="en-US" sz="1200" dirty="0"/>
          </a:p>
        </p:txBody>
      </p:sp>
      <p:sp>
        <p:nvSpPr>
          <p:cNvPr id="22" name="Text 20"/>
          <p:cNvSpPr/>
          <p:nvPr/>
        </p:nvSpPr>
        <p:spPr>
          <a:xfrm>
            <a:off x="1444752" y="4882896"/>
            <a:ext cx="2359152" cy="310896"/>
          </a:xfrm>
          <a:prstGeom prst="rect">
            <a:avLst/>
          </a:prstGeom>
          <a:noFill/>
          <a:ln/>
        </p:spPr>
        <p:txBody>
          <a:bodyPr wrap="square" lIns="0" tIns="0" rIns="0" bIns="0" rtlCol="0" anchor="ctr">
            <a:normAutofit/>
          </a:bodyPr>
          <a:lstStyle/>
          <a:p>
            <a:pPr indent="0" marL="0">
              <a:buNone/>
            </a:pPr>
            <a:r>
              <a:rPr lang="en-US" sz="1320" b="1" dirty="0">
                <a:solidFill>
                  <a:srgbClr val="2F2522"/>
                </a:solidFill>
                <a:latin typeface="Segoe UI" pitchFamily="34" charset="0"/>
                <a:ea typeface="Segoe UI" pitchFamily="34" charset="-122"/>
                <a:cs typeface="Segoe UI" pitchFamily="34" charset="-120"/>
              </a:rPr>
              <a:t>Suivre le résultat</a:t>
            </a:r>
            <a:endParaRPr lang="en-US" sz="1320" dirty="0"/>
          </a:p>
        </p:txBody>
      </p:sp>
      <p:sp>
        <p:nvSpPr>
          <p:cNvPr id="23" name="Text 21"/>
          <p:cNvSpPr/>
          <p:nvPr/>
        </p:nvSpPr>
        <p:spPr>
          <a:xfrm>
            <a:off x="1444752" y="5239512"/>
            <a:ext cx="2651760" cy="274320"/>
          </a:xfrm>
          <a:prstGeom prst="rect">
            <a:avLst/>
          </a:prstGeom>
          <a:noFill/>
          <a:ln/>
        </p:spPr>
        <p:txBody>
          <a:bodyPr wrap="square" lIns="0" tIns="0" rIns="0" bIns="0" rtlCol="0" anchor="ctr">
            <a:normAutofit/>
          </a:bodyPr>
          <a:lstStyle/>
          <a:p>
            <a:pPr indent="0" marL="0">
              <a:buNone/>
            </a:pPr>
            <a:r>
              <a:rPr lang="en-US" sz="920" dirty="0">
                <a:solidFill>
                  <a:srgbClr val="6D625D"/>
                </a:solidFill>
                <a:latin typeface="Segoe UI" pitchFamily="34" charset="0"/>
                <a:ea typeface="Segoe UI" pitchFamily="34" charset="-122"/>
                <a:cs typeface="Segoe UI" pitchFamily="34" charset="-120"/>
              </a:rPr>
              <a:t>Information à jour et traçable</a:t>
            </a:r>
            <a:endParaRPr lang="en-US" sz="920" dirty="0"/>
          </a:p>
        </p:txBody>
      </p:sp>
      <p:sp>
        <p:nvSpPr>
          <p:cNvPr id="24" name="Shape 22"/>
          <p:cNvSpPr/>
          <p:nvPr/>
        </p:nvSpPr>
        <p:spPr>
          <a:xfrm>
            <a:off x="4663440" y="1801368"/>
            <a:ext cx="6912864" cy="4187952"/>
          </a:xfrm>
          <a:prstGeom prst="roundRect">
            <a:avLst>
              <a:gd name="adj" fmla="val 3493"/>
            </a:avLst>
          </a:prstGeom>
          <a:solidFill>
            <a:srgbClr val="FAF4EA"/>
          </a:solidFill>
          <a:ln w="10160">
            <a:solidFill>
              <a:srgbClr val="D8C8B8"/>
            </a:solidFill>
            <a:prstDash val="solid"/>
          </a:ln>
        </p:spPr>
      </p:sp>
      <p:sp>
        <p:nvSpPr>
          <p:cNvPr id="25" name="Shape 23"/>
          <p:cNvSpPr/>
          <p:nvPr/>
        </p:nvSpPr>
        <p:spPr>
          <a:xfrm>
            <a:off x="4663440" y="1801368"/>
            <a:ext cx="1389888" cy="4187952"/>
          </a:xfrm>
          <a:prstGeom prst="rect">
            <a:avLst/>
          </a:prstGeom>
          <a:solidFill>
            <a:srgbClr val="5D4037"/>
          </a:solidFill>
          <a:ln w="12700">
            <a:solidFill>
              <a:srgbClr val="5D4037"/>
            </a:solidFill>
            <a:prstDash val="solid"/>
          </a:ln>
        </p:spPr>
      </p:sp>
      <p:sp>
        <p:nvSpPr>
          <p:cNvPr id="26" name="Text 24"/>
          <p:cNvSpPr/>
          <p:nvPr/>
        </p:nvSpPr>
        <p:spPr>
          <a:xfrm>
            <a:off x="4956048" y="2084832"/>
            <a:ext cx="786384" cy="43891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pitchFamily="34" charset="0"/>
                <a:ea typeface="Segoe UI" pitchFamily="34" charset="-122"/>
                <a:cs typeface="Segoe UI" pitchFamily="34" charset="-120"/>
              </a:rPr>
              <a:t>SF</a:t>
            </a:r>
            <a:endParaRPr lang="en-US" sz="2200" dirty="0"/>
          </a:p>
        </p:txBody>
      </p:sp>
      <p:sp>
        <p:nvSpPr>
          <p:cNvPr id="27" name="Shape 25"/>
          <p:cNvSpPr/>
          <p:nvPr/>
        </p:nvSpPr>
        <p:spPr>
          <a:xfrm>
            <a:off x="4828032" y="2761488"/>
            <a:ext cx="1051560" cy="347472"/>
          </a:xfrm>
          <a:prstGeom prst="roundRect">
            <a:avLst>
              <a:gd name="adj" fmla="val 21053"/>
            </a:avLst>
          </a:prstGeom>
          <a:solidFill>
            <a:srgbClr val="C47A5A"/>
          </a:solidFill>
          <a:ln w="12700">
            <a:solidFill>
              <a:srgbClr val="C47A5A"/>
            </a:solidFill>
            <a:prstDash val="solid"/>
          </a:ln>
        </p:spPr>
      </p:sp>
      <p:sp>
        <p:nvSpPr>
          <p:cNvPr id="28" name="Text 26"/>
          <p:cNvSpPr/>
          <p:nvPr/>
        </p:nvSpPr>
        <p:spPr>
          <a:xfrm>
            <a:off x="4956048" y="2761488"/>
            <a:ext cx="786384" cy="347472"/>
          </a:xfrm>
          <a:prstGeom prst="rect">
            <a:avLst/>
          </a:prstGeom>
          <a:noFill/>
          <a:ln/>
        </p:spPr>
        <p:txBody>
          <a:bodyPr wrap="square" lIns="0" tIns="0" rIns="0" bIns="0" rtlCol="0" anchor="ctr">
            <a:normAutofit/>
          </a:bodyPr>
          <a:lstStyle/>
          <a:p>
            <a:pPr algn="l" indent="0" marL="0">
              <a:buNone/>
            </a:pPr>
            <a:r>
              <a:rPr lang="en-US" sz="820" b="1" dirty="0">
                <a:solidFill>
                  <a:srgbClr val="FFFFFF"/>
                </a:solidFill>
                <a:latin typeface="Segoe UI" pitchFamily="34" charset="0"/>
                <a:ea typeface="Segoe UI" pitchFamily="34" charset="-122"/>
                <a:cs typeface="Segoe UI" pitchFamily="34" charset="-120"/>
              </a:rPr>
              <a:t>Accueil</a:t>
            </a:r>
            <a:endParaRPr lang="en-US" sz="820" dirty="0"/>
          </a:p>
        </p:txBody>
      </p:sp>
      <p:sp>
        <p:nvSpPr>
          <p:cNvPr id="29" name="Text 27"/>
          <p:cNvSpPr/>
          <p:nvPr/>
        </p:nvSpPr>
        <p:spPr>
          <a:xfrm>
            <a:off x="4956048" y="3236976"/>
            <a:ext cx="786384" cy="347472"/>
          </a:xfrm>
          <a:prstGeom prst="rect">
            <a:avLst/>
          </a:prstGeom>
          <a:noFill/>
          <a:ln/>
        </p:spPr>
        <p:txBody>
          <a:bodyPr wrap="square" lIns="0" tIns="0" rIns="0" bIns="0" rtlCol="0" anchor="ctr">
            <a:normAutofit/>
          </a:bodyPr>
          <a:lstStyle/>
          <a:p>
            <a:pPr algn="l" indent="0" marL="0">
              <a:buNone/>
            </a:pPr>
            <a:r>
              <a:rPr lang="en-US" sz="820" dirty="0">
                <a:solidFill>
                  <a:srgbClr val="F5EFE6"/>
                </a:solidFill>
                <a:latin typeface="Segoe UI" pitchFamily="34" charset="0"/>
                <a:ea typeface="Segoe UI" pitchFamily="34" charset="-122"/>
                <a:cs typeface="Segoe UI" pitchFamily="34" charset="-120"/>
              </a:rPr>
              <a:t>Cours</a:t>
            </a:r>
            <a:endParaRPr lang="en-US" sz="820" dirty="0"/>
          </a:p>
        </p:txBody>
      </p:sp>
      <p:sp>
        <p:nvSpPr>
          <p:cNvPr id="30" name="Text 28"/>
          <p:cNvSpPr/>
          <p:nvPr/>
        </p:nvSpPr>
        <p:spPr>
          <a:xfrm>
            <a:off x="4956048" y="3712464"/>
            <a:ext cx="786384" cy="347472"/>
          </a:xfrm>
          <a:prstGeom prst="rect">
            <a:avLst/>
          </a:prstGeom>
          <a:noFill/>
          <a:ln/>
        </p:spPr>
        <p:txBody>
          <a:bodyPr wrap="square" lIns="0" tIns="0" rIns="0" bIns="0" rtlCol="0" anchor="ctr">
            <a:normAutofit/>
          </a:bodyPr>
          <a:lstStyle/>
          <a:p>
            <a:pPr algn="l" indent="0" marL="0">
              <a:buNone/>
            </a:pPr>
            <a:r>
              <a:rPr lang="en-US" sz="820" dirty="0">
                <a:solidFill>
                  <a:srgbClr val="F5EFE6"/>
                </a:solidFill>
                <a:latin typeface="Segoe UI" pitchFamily="34" charset="0"/>
                <a:ea typeface="Segoe UI" pitchFamily="34" charset="-122"/>
                <a:cs typeface="Segoe UI" pitchFamily="34" charset="-120"/>
              </a:rPr>
              <a:t>Notes</a:t>
            </a:r>
            <a:endParaRPr lang="en-US" sz="820" dirty="0"/>
          </a:p>
        </p:txBody>
      </p:sp>
      <p:sp>
        <p:nvSpPr>
          <p:cNvPr id="31" name="Text 29"/>
          <p:cNvSpPr/>
          <p:nvPr/>
        </p:nvSpPr>
        <p:spPr>
          <a:xfrm>
            <a:off x="4956048" y="4187952"/>
            <a:ext cx="786384" cy="347472"/>
          </a:xfrm>
          <a:prstGeom prst="rect">
            <a:avLst/>
          </a:prstGeom>
          <a:noFill/>
          <a:ln/>
        </p:spPr>
        <p:txBody>
          <a:bodyPr wrap="square" lIns="0" tIns="0" rIns="0" bIns="0" rtlCol="0" anchor="ctr">
            <a:normAutofit/>
          </a:bodyPr>
          <a:lstStyle/>
          <a:p>
            <a:pPr algn="l" indent="0" marL="0">
              <a:buNone/>
            </a:pPr>
            <a:r>
              <a:rPr lang="en-US" sz="820" dirty="0">
                <a:solidFill>
                  <a:srgbClr val="F5EFE6"/>
                </a:solidFill>
                <a:latin typeface="Segoe UI" pitchFamily="34" charset="0"/>
                <a:ea typeface="Segoe UI" pitchFamily="34" charset="-122"/>
                <a:cs typeface="Segoe UI" pitchFamily="34" charset="-120"/>
              </a:rPr>
              <a:t>Valve</a:t>
            </a:r>
            <a:endParaRPr lang="en-US" sz="820" dirty="0"/>
          </a:p>
        </p:txBody>
      </p:sp>
      <p:sp>
        <p:nvSpPr>
          <p:cNvPr id="32" name="Text 30"/>
          <p:cNvSpPr/>
          <p:nvPr/>
        </p:nvSpPr>
        <p:spPr>
          <a:xfrm>
            <a:off x="4956048" y="4663440"/>
            <a:ext cx="786384" cy="347472"/>
          </a:xfrm>
          <a:prstGeom prst="rect">
            <a:avLst/>
          </a:prstGeom>
          <a:noFill/>
          <a:ln/>
        </p:spPr>
        <p:txBody>
          <a:bodyPr wrap="square" lIns="0" tIns="0" rIns="0" bIns="0" rtlCol="0" anchor="ctr">
            <a:normAutofit/>
          </a:bodyPr>
          <a:lstStyle/>
          <a:p>
            <a:pPr algn="l" indent="0" marL="0">
              <a:buNone/>
            </a:pPr>
            <a:r>
              <a:rPr lang="en-US" sz="820" dirty="0">
                <a:solidFill>
                  <a:srgbClr val="F5EFE6"/>
                </a:solidFill>
                <a:latin typeface="Segoe UI" pitchFamily="34" charset="0"/>
                <a:ea typeface="Segoe UI" pitchFamily="34" charset="-122"/>
                <a:cs typeface="Segoe UI" pitchFamily="34" charset="-120"/>
              </a:rPr>
              <a:t>Profil</a:t>
            </a:r>
            <a:endParaRPr lang="en-US" sz="820" dirty="0"/>
          </a:p>
        </p:txBody>
      </p:sp>
      <p:sp>
        <p:nvSpPr>
          <p:cNvPr id="33" name="Text 31"/>
          <p:cNvSpPr/>
          <p:nvPr/>
        </p:nvSpPr>
        <p:spPr>
          <a:xfrm>
            <a:off x="6355080" y="2103120"/>
            <a:ext cx="2560320" cy="347472"/>
          </a:xfrm>
          <a:prstGeom prst="rect">
            <a:avLst/>
          </a:prstGeom>
          <a:noFill/>
          <a:ln/>
        </p:spPr>
        <p:txBody>
          <a:bodyPr wrap="square" lIns="0" tIns="0" rIns="0" bIns="0" rtlCol="0" anchor="ctr">
            <a:normAutofit/>
          </a:bodyPr>
          <a:lstStyle/>
          <a:p>
            <a:pPr indent="0" marL="0">
              <a:buNone/>
            </a:pPr>
            <a:r>
              <a:rPr lang="en-US" sz="1700" b="1" dirty="0">
                <a:solidFill>
                  <a:srgbClr val="2F2522"/>
                </a:solidFill>
                <a:latin typeface="Segoe UI" pitchFamily="34" charset="0"/>
                <a:ea typeface="Segoe UI" pitchFamily="34" charset="-122"/>
                <a:cs typeface="Segoe UI" pitchFamily="34" charset="-120"/>
              </a:rPr>
              <a:t>Bonjour, Grâce</a:t>
            </a:r>
            <a:endParaRPr lang="en-US" sz="1700" dirty="0"/>
          </a:p>
        </p:txBody>
      </p:sp>
      <p:sp>
        <p:nvSpPr>
          <p:cNvPr id="34" name="Text 32"/>
          <p:cNvSpPr/>
          <p:nvPr/>
        </p:nvSpPr>
        <p:spPr>
          <a:xfrm>
            <a:off x="6364224" y="2468880"/>
            <a:ext cx="3383280" cy="246888"/>
          </a:xfrm>
          <a:prstGeom prst="rect">
            <a:avLst/>
          </a:prstGeom>
          <a:noFill/>
          <a:ln/>
        </p:spPr>
        <p:txBody>
          <a:bodyPr wrap="square" lIns="0" tIns="0" rIns="0" bIns="0" rtlCol="0" anchor="ctr">
            <a:normAutofit/>
          </a:bodyPr>
          <a:lstStyle/>
          <a:p>
            <a:pPr indent="0" marL="0">
              <a:buNone/>
            </a:pPr>
            <a:r>
              <a:rPr lang="en-US" sz="880" dirty="0">
                <a:solidFill>
                  <a:srgbClr val="6D625D"/>
                </a:solidFill>
                <a:latin typeface="Segoe UI" pitchFamily="34" charset="0"/>
                <a:ea typeface="Segoe UI" pitchFamily="34" charset="-122"/>
                <a:cs typeface="Segoe UI" pitchFamily="34" charset="-120"/>
              </a:rPr>
              <a:t>Voici l’activité académique du jour.</a:t>
            </a:r>
            <a:endParaRPr lang="en-US" sz="880" dirty="0"/>
          </a:p>
        </p:txBody>
      </p:sp>
      <p:sp>
        <p:nvSpPr>
          <p:cNvPr id="35" name="Shape 33"/>
          <p:cNvSpPr/>
          <p:nvPr/>
        </p:nvSpPr>
        <p:spPr>
          <a:xfrm>
            <a:off x="6355080" y="2944368"/>
            <a:ext cx="1344168" cy="932688"/>
          </a:xfrm>
          <a:prstGeom prst="roundRect">
            <a:avLst>
              <a:gd name="adj" fmla="val 9804"/>
            </a:avLst>
          </a:prstGeom>
          <a:solidFill>
            <a:srgbClr val="FFFDF8"/>
          </a:solidFill>
          <a:ln w="10160">
            <a:solidFill>
              <a:srgbClr val="D8C8B8"/>
            </a:solidFill>
            <a:prstDash val="solid"/>
          </a:ln>
        </p:spPr>
      </p:sp>
      <p:sp>
        <p:nvSpPr>
          <p:cNvPr id="36" name="Text 34"/>
          <p:cNvSpPr/>
          <p:nvPr/>
        </p:nvSpPr>
        <p:spPr>
          <a:xfrm>
            <a:off x="6519672" y="3081528"/>
            <a:ext cx="1014984" cy="338328"/>
          </a:xfrm>
          <a:prstGeom prst="rect">
            <a:avLst/>
          </a:prstGeom>
          <a:noFill/>
          <a:ln/>
        </p:spPr>
        <p:txBody>
          <a:bodyPr wrap="square" lIns="0" tIns="0" rIns="0" bIns="0" rtlCol="0" anchor="ctr">
            <a:normAutofit/>
          </a:bodyPr>
          <a:lstStyle/>
          <a:p>
            <a:pPr indent="0" marL="0">
              <a:buNone/>
            </a:pPr>
            <a:r>
              <a:rPr lang="en-US" sz="1900" b="1" dirty="0">
                <a:solidFill>
                  <a:srgbClr val="C47A5A"/>
                </a:solidFill>
                <a:latin typeface="Segoe UI" pitchFamily="34" charset="0"/>
                <a:ea typeface="Segoe UI" pitchFamily="34" charset="-122"/>
                <a:cs typeface="Segoe UI" pitchFamily="34" charset="-120"/>
              </a:rPr>
              <a:t>06</a:t>
            </a:r>
            <a:endParaRPr lang="en-US" sz="1900" dirty="0"/>
          </a:p>
        </p:txBody>
      </p:sp>
      <p:sp>
        <p:nvSpPr>
          <p:cNvPr id="37" name="Text 35"/>
          <p:cNvSpPr/>
          <p:nvPr/>
        </p:nvSpPr>
        <p:spPr>
          <a:xfrm>
            <a:off x="6519672" y="3465576"/>
            <a:ext cx="1005840" cy="201168"/>
          </a:xfrm>
          <a:prstGeom prst="rect">
            <a:avLst/>
          </a:prstGeom>
          <a:noFill/>
          <a:ln/>
        </p:spPr>
        <p:txBody>
          <a:bodyPr wrap="square" lIns="0" tIns="0" rIns="0" bIns="0" rtlCol="0" anchor="ctr">
            <a:normAutofit/>
          </a:bodyPr>
          <a:lstStyle/>
          <a:p>
            <a:pPr indent="0" marL="0">
              <a:buNone/>
            </a:pPr>
            <a:r>
              <a:rPr lang="en-US" sz="780" dirty="0">
                <a:solidFill>
                  <a:srgbClr val="6D625D"/>
                </a:solidFill>
                <a:latin typeface="Segoe UI" pitchFamily="34" charset="0"/>
                <a:ea typeface="Segoe UI" pitchFamily="34" charset="-122"/>
                <a:cs typeface="Segoe UI" pitchFamily="34" charset="-120"/>
              </a:rPr>
              <a:t>Cours</a:t>
            </a:r>
            <a:endParaRPr lang="en-US" sz="780" dirty="0"/>
          </a:p>
        </p:txBody>
      </p:sp>
      <p:sp>
        <p:nvSpPr>
          <p:cNvPr id="38" name="Shape 36"/>
          <p:cNvSpPr/>
          <p:nvPr/>
        </p:nvSpPr>
        <p:spPr>
          <a:xfrm>
            <a:off x="7918704" y="2944368"/>
            <a:ext cx="1344168" cy="932688"/>
          </a:xfrm>
          <a:prstGeom prst="roundRect">
            <a:avLst>
              <a:gd name="adj" fmla="val 9804"/>
            </a:avLst>
          </a:prstGeom>
          <a:solidFill>
            <a:srgbClr val="FFFDF8"/>
          </a:solidFill>
          <a:ln w="10160">
            <a:solidFill>
              <a:srgbClr val="D8C8B8"/>
            </a:solidFill>
            <a:prstDash val="solid"/>
          </a:ln>
        </p:spPr>
      </p:sp>
      <p:sp>
        <p:nvSpPr>
          <p:cNvPr id="39" name="Text 37"/>
          <p:cNvSpPr/>
          <p:nvPr/>
        </p:nvSpPr>
        <p:spPr>
          <a:xfrm>
            <a:off x="8083296" y="3081528"/>
            <a:ext cx="1014984" cy="338328"/>
          </a:xfrm>
          <a:prstGeom prst="rect">
            <a:avLst/>
          </a:prstGeom>
          <a:noFill/>
          <a:ln/>
        </p:spPr>
        <p:txBody>
          <a:bodyPr wrap="square" lIns="0" tIns="0" rIns="0" bIns="0" rtlCol="0" anchor="ctr">
            <a:normAutofit/>
          </a:bodyPr>
          <a:lstStyle/>
          <a:p>
            <a:pPr indent="0" marL="0">
              <a:buNone/>
            </a:pPr>
            <a:r>
              <a:rPr lang="en-US" sz="1900" b="1" dirty="0">
                <a:solidFill>
                  <a:srgbClr val="6F8A8A"/>
                </a:solidFill>
                <a:latin typeface="Segoe UI" pitchFamily="34" charset="0"/>
                <a:ea typeface="Segoe UI" pitchFamily="34" charset="-122"/>
                <a:cs typeface="Segoe UI" pitchFamily="34" charset="-120"/>
              </a:rPr>
              <a:t>03</a:t>
            </a:r>
            <a:endParaRPr lang="en-US" sz="1900" dirty="0"/>
          </a:p>
        </p:txBody>
      </p:sp>
      <p:sp>
        <p:nvSpPr>
          <p:cNvPr id="40" name="Text 38"/>
          <p:cNvSpPr/>
          <p:nvPr/>
        </p:nvSpPr>
        <p:spPr>
          <a:xfrm>
            <a:off x="8083296" y="3465576"/>
            <a:ext cx="1005840" cy="201168"/>
          </a:xfrm>
          <a:prstGeom prst="rect">
            <a:avLst/>
          </a:prstGeom>
          <a:noFill/>
          <a:ln/>
        </p:spPr>
        <p:txBody>
          <a:bodyPr wrap="square" lIns="0" tIns="0" rIns="0" bIns="0" rtlCol="0" anchor="ctr">
            <a:normAutofit/>
          </a:bodyPr>
          <a:lstStyle/>
          <a:p>
            <a:pPr indent="0" marL="0">
              <a:buNone/>
            </a:pPr>
            <a:r>
              <a:rPr lang="en-US" sz="780" dirty="0">
                <a:solidFill>
                  <a:srgbClr val="6D625D"/>
                </a:solidFill>
                <a:latin typeface="Segoe UI" pitchFamily="34" charset="0"/>
                <a:ea typeface="Segoe UI" pitchFamily="34" charset="-122"/>
                <a:cs typeface="Segoe UI" pitchFamily="34" charset="-120"/>
              </a:rPr>
              <a:t>Annonces</a:t>
            </a:r>
            <a:endParaRPr lang="en-US" sz="780" dirty="0"/>
          </a:p>
        </p:txBody>
      </p:sp>
      <p:sp>
        <p:nvSpPr>
          <p:cNvPr id="41" name="Shape 39"/>
          <p:cNvSpPr/>
          <p:nvPr/>
        </p:nvSpPr>
        <p:spPr>
          <a:xfrm>
            <a:off x="9482328" y="2944368"/>
            <a:ext cx="1344168" cy="932688"/>
          </a:xfrm>
          <a:prstGeom prst="roundRect">
            <a:avLst>
              <a:gd name="adj" fmla="val 9804"/>
            </a:avLst>
          </a:prstGeom>
          <a:solidFill>
            <a:srgbClr val="FFFDF8"/>
          </a:solidFill>
          <a:ln w="10160">
            <a:solidFill>
              <a:srgbClr val="D8C8B8"/>
            </a:solidFill>
            <a:prstDash val="solid"/>
          </a:ln>
        </p:spPr>
      </p:sp>
      <p:sp>
        <p:nvSpPr>
          <p:cNvPr id="42" name="Text 40"/>
          <p:cNvSpPr/>
          <p:nvPr/>
        </p:nvSpPr>
        <p:spPr>
          <a:xfrm>
            <a:off x="9646920" y="3081528"/>
            <a:ext cx="1014984" cy="338328"/>
          </a:xfrm>
          <a:prstGeom prst="rect">
            <a:avLst/>
          </a:prstGeom>
          <a:noFill/>
          <a:ln/>
        </p:spPr>
        <p:txBody>
          <a:bodyPr wrap="square" lIns="0" tIns="0" rIns="0" bIns="0" rtlCol="0" anchor="ctr">
            <a:normAutofit/>
          </a:bodyPr>
          <a:lstStyle/>
          <a:p>
            <a:pPr indent="0" marL="0">
              <a:buNone/>
            </a:pPr>
            <a:r>
              <a:rPr lang="en-US" sz="1900" b="1" dirty="0">
                <a:solidFill>
                  <a:srgbClr val="4F7A5A"/>
                </a:solidFill>
                <a:latin typeface="Segoe UI" pitchFamily="34" charset="0"/>
                <a:ea typeface="Segoe UI" pitchFamily="34" charset="-122"/>
                <a:cs typeface="Segoe UI" pitchFamily="34" charset="-120"/>
              </a:rPr>
              <a:t>92%</a:t>
            </a:r>
            <a:endParaRPr lang="en-US" sz="1900" dirty="0"/>
          </a:p>
        </p:txBody>
      </p:sp>
      <p:sp>
        <p:nvSpPr>
          <p:cNvPr id="43" name="Text 41"/>
          <p:cNvSpPr/>
          <p:nvPr/>
        </p:nvSpPr>
        <p:spPr>
          <a:xfrm>
            <a:off x="9646920" y="3465576"/>
            <a:ext cx="1005840" cy="201168"/>
          </a:xfrm>
          <a:prstGeom prst="rect">
            <a:avLst/>
          </a:prstGeom>
          <a:noFill/>
          <a:ln/>
        </p:spPr>
        <p:txBody>
          <a:bodyPr wrap="square" lIns="0" tIns="0" rIns="0" bIns="0" rtlCol="0" anchor="ctr">
            <a:normAutofit/>
          </a:bodyPr>
          <a:lstStyle/>
          <a:p>
            <a:pPr indent="0" marL="0">
              <a:buNone/>
            </a:pPr>
            <a:r>
              <a:rPr lang="en-US" sz="780" dirty="0">
                <a:solidFill>
                  <a:srgbClr val="6D625D"/>
                </a:solidFill>
                <a:latin typeface="Segoe UI" pitchFamily="34" charset="0"/>
                <a:ea typeface="Segoe UI" pitchFamily="34" charset="-122"/>
                <a:cs typeface="Segoe UI" pitchFamily="34" charset="-120"/>
              </a:rPr>
              <a:t>Présence</a:t>
            </a:r>
            <a:endParaRPr lang="en-US" sz="780" dirty="0"/>
          </a:p>
        </p:txBody>
      </p:sp>
      <p:sp>
        <p:nvSpPr>
          <p:cNvPr id="44" name="Shape 42"/>
          <p:cNvSpPr/>
          <p:nvPr/>
        </p:nvSpPr>
        <p:spPr>
          <a:xfrm>
            <a:off x="6355080" y="4160520"/>
            <a:ext cx="4480560" cy="1243584"/>
          </a:xfrm>
          <a:prstGeom prst="roundRect">
            <a:avLst>
              <a:gd name="adj" fmla="val 7353"/>
            </a:avLst>
          </a:prstGeom>
          <a:solidFill>
            <a:srgbClr val="FFFDF8"/>
          </a:solidFill>
          <a:ln w="10160">
            <a:solidFill>
              <a:srgbClr val="D8C8B8"/>
            </a:solidFill>
            <a:prstDash val="solid"/>
          </a:ln>
        </p:spPr>
      </p:sp>
      <p:sp>
        <p:nvSpPr>
          <p:cNvPr id="45" name="Text 43"/>
          <p:cNvSpPr/>
          <p:nvPr/>
        </p:nvSpPr>
        <p:spPr>
          <a:xfrm>
            <a:off x="6565392" y="4315968"/>
            <a:ext cx="1920240" cy="246888"/>
          </a:xfrm>
          <a:prstGeom prst="rect">
            <a:avLst/>
          </a:prstGeom>
          <a:noFill/>
          <a:ln/>
        </p:spPr>
        <p:txBody>
          <a:bodyPr wrap="square" lIns="0" tIns="0" rIns="0" bIns="0" rtlCol="0" anchor="ctr">
            <a:normAutofit/>
          </a:bodyPr>
          <a:lstStyle/>
          <a:p>
            <a:pPr indent="0" marL="0">
              <a:buNone/>
            </a:pPr>
            <a:r>
              <a:rPr lang="en-US" sz="1040" b="1" dirty="0">
                <a:solidFill>
                  <a:srgbClr val="2F2522"/>
                </a:solidFill>
                <a:latin typeface="Segoe UI" pitchFamily="34" charset="0"/>
                <a:ea typeface="Segoe UI" pitchFamily="34" charset="-122"/>
                <a:cs typeface="Segoe UI" pitchFamily="34" charset="-120"/>
              </a:rPr>
              <a:t>Activité récente</a:t>
            </a:r>
            <a:endParaRPr lang="en-US" sz="1040" dirty="0"/>
          </a:p>
        </p:txBody>
      </p:sp>
      <p:sp>
        <p:nvSpPr>
          <p:cNvPr id="46" name="Shape 44"/>
          <p:cNvSpPr/>
          <p:nvPr/>
        </p:nvSpPr>
        <p:spPr>
          <a:xfrm>
            <a:off x="6583680" y="4709160"/>
            <a:ext cx="2651760" cy="0"/>
          </a:xfrm>
          <a:prstGeom prst="line">
            <a:avLst/>
          </a:prstGeom>
          <a:noFill/>
          <a:ln w="50800">
            <a:solidFill>
              <a:srgbClr val="D8C8B8"/>
            </a:solidFill>
            <a:prstDash val="solid"/>
            <a:headEnd type="none"/>
            <a:tailEnd type="none"/>
          </a:ln>
        </p:spPr>
      </p:sp>
      <p:sp>
        <p:nvSpPr>
          <p:cNvPr id="47" name="Shape 45"/>
          <p:cNvSpPr/>
          <p:nvPr/>
        </p:nvSpPr>
        <p:spPr>
          <a:xfrm>
            <a:off x="6583680" y="4828032"/>
            <a:ext cx="3474720" cy="0"/>
          </a:xfrm>
          <a:prstGeom prst="line">
            <a:avLst/>
          </a:prstGeom>
          <a:noFill/>
          <a:ln w="50800">
            <a:solidFill>
              <a:srgbClr val="D8C8B8"/>
            </a:solidFill>
            <a:prstDash val="solid"/>
            <a:headEnd type="none"/>
            <a:tailEnd type="none"/>
          </a:ln>
        </p:spPr>
      </p:sp>
      <p:sp>
        <p:nvSpPr>
          <p:cNvPr id="48" name="Shape 46"/>
          <p:cNvSpPr/>
          <p:nvPr/>
        </p:nvSpPr>
        <p:spPr>
          <a:xfrm>
            <a:off x="6583680" y="4946904"/>
            <a:ext cx="2011680" cy="0"/>
          </a:xfrm>
          <a:prstGeom prst="line">
            <a:avLst/>
          </a:prstGeom>
          <a:noFill/>
          <a:ln w="50800">
            <a:solidFill>
              <a:srgbClr val="D8C8B8"/>
            </a:solidFill>
            <a:prstDash val="solid"/>
            <a:headEnd type="none"/>
            <a:tailEnd type="none"/>
          </a:ln>
        </p:spPr>
      </p:sp>
      <p:sp>
        <p:nvSpPr>
          <p:cNvPr id="49" name="Shape 47"/>
          <p:cNvSpPr/>
          <p:nvPr/>
        </p:nvSpPr>
        <p:spPr>
          <a:xfrm>
            <a:off x="6583680" y="5065776"/>
            <a:ext cx="3886200" cy="0"/>
          </a:xfrm>
          <a:prstGeom prst="line">
            <a:avLst/>
          </a:prstGeom>
          <a:noFill/>
          <a:ln w="50800">
            <a:solidFill>
              <a:srgbClr val="C47A5A"/>
            </a:solidFill>
            <a:prstDash val="solid"/>
            <a:headEnd type="none"/>
            <a:tailEnd type="none"/>
          </a:ln>
        </p:spPr>
      </p:sp>
      <p:sp>
        <p:nvSpPr>
          <p:cNvPr id="50" name="Shape 48"/>
          <p:cNvSpPr/>
          <p:nvPr/>
        </p:nvSpPr>
        <p:spPr>
          <a:xfrm>
            <a:off x="6583680" y="5184648"/>
            <a:ext cx="3154680" cy="0"/>
          </a:xfrm>
          <a:prstGeom prst="line">
            <a:avLst/>
          </a:prstGeom>
          <a:noFill/>
          <a:ln w="50800">
            <a:solidFill>
              <a:srgbClr val="D8C8B8"/>
            </a:solidFill>
            <a:prstDash val="solid"/>
            <a:headEnd type="none"/>
            <a:tailEnd type="none"/>
          </a:ln>
        </p:spPr>
      </p:sp>
      <p:sp>
        <p:nvSpPr>
          <p:cNvPr id="51" name="Shape 49"/>
          <p:cNvSpPr/>
          <p:nvPr/>
        </p:nvSpPr>
        <p:spPr>
          <a:xfrm>
            <a:off x="612648" y="5879592"/>
            <a:ext cx="10954512" cy="411480"/>
          </a:xfrm>
          <a:prstGeom prst="roundRect">
            <a:avLst>
              <a:gd name="adj" fmla="val 24444"/>
            </a:avLst>
          </a:prstGeom>
          <a:solidFill>
            <a:srgbClr val="F5EFE6"/>
          </a:solidFill>
          <a:ln w="12700">
            <a:solidFill>
              <a:srgbClr val="F5EFE6"/>
            </a:solidFill>
            <a:prstDash val="solid"/>
          </a:ln>
        </p:spPr>
      </p:sp>
      <p:sp>
        <p:nvSpPr>
          <p:cNvPr id="52" name="Text 50"/>
          <p:cNvSpPr/>
          <p:nvPr/>
        </p:nvSpPr>
        <p:spPr>
          <a:xfrm>
            <a:off x="859536" y="5925312"/>
            <a:ext cx="1508760" cy="256032"/>
          </a:xfrm>
          <a:prstGeom prst="rect">
            <a:avLst/>
          </a:prstGeom>
          <a:noFill/>
          <a:ln/>
        </p:spPr>
        <p:txBody>
          <a:bodyPr wrap="square" lIns="0" tIns="0" rIns="0" bIns="0" rtlCol="0" anchor="ctr">
            <a:normAutofit/>
          </a:bodyPr>
          <a:lstStyle/>
          <a:p>
            <a:pPr indent="0" marL="0">
              <a:buNone/>
            </a:pPr>
            <a:r>
              <a:rPr lang="en-US" sz="820" b="1" spc="120" kern="0" dirty="0">
                <a:solidFill>
                  <a:srgbClr val="5D4037"/>
                </a:solidFill>
                <a:latin typeface="Segoe UI" pitchFamily="34" charset="0"/>
                <a:ea typeface="Segoe UI" pitchFamily="34" charset="-122"/>
                <a:cs typeface="Segoe UI" pitchFamily="34" charset="-120"/>
              </a:rPr>
              <a:t>SMART FACULTY</a:t>
            </a:r>
            <a:endParaRPr lang="en-US" sz="820" dirty="0"/>
          </a:p>
        </p:txBody>
      </p:sp>
      <p:sp>
        <p:nvSpPr>
          <p:cNvPr id="53" name="Text 51"/>
          <p:cNvSpPr/>
          <p:nvPr/>
        </p:nvSpPr>
        <p:spPr>
          <a:xfrm>
            <a:off x="2395728" y="5907024"/>
            <a:ext cx="8796528" cy="274320"/>
          </a:xfrm>
          <a:prstGeom prst="rect">
            <a:avLst/>
          </a:prstGeom>
          <a:noFill/>
          <a:ln/>
        </p:spPr>
        <p:txBody>
          <a:bodyPr wrap="square" lIns="0" tIns="0" rIns="0" bIns="0" rtlCol="0" anchor="ctr">
            <a:normAutofit/>
          </a:bodyPr>
          <a:lstStyle/>
          <a:p>
            <a:pPr algn="r" indent="0" marL="0">
              <a:buNone/>
            </a:pPr>
            <a:r>
              <a:rPr lang="en-US" sz="1250" b="1" dirty="0">
                <a:solidFill>
                  <a:srgbClr val="2F2522"/>
                </a:solidFill>
                <a:latin typeface="Segoe UI" pitchFamily="34" charset="0"/>
                <a:ea typeface="Segoe UI" pitchFamily="34" charset="-122"/>
                <a:cs typeface="Segoe UI" pitchFamily="34" charset="-120"/>
              </a:rPr>
              <a:t>Une faculté plus fluide, plus lisible, plus réactive.</a:t>
            </a:r>
            <a:endParaRPr lang="en-US" sz="1250" dirty="0"/>
          </a:p>
        </p:txBody>
      </p:sp>
      <p:sp>
        <p:nvSpPr>
          <p:cNvPr id="25" name="Slide Number Placeholder 0"/>
          <p:cNvSpPr>
            <a:spLocks noGrp="1"/>
          </p:cNvSpPr>
          <p:nvPr>
            <p:ph type="sldNum" sz="quarter" idx="4294967295"/>
          </p:nvPr>
        </p:nvSpPr>
        <p:spPr>
          <a:xfrm>
            <a:off x="11109960" y="6419088"/>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5548"/>
                </a:solidFill>
                <a:latin typeface="Segoe UI"/>
                <a:ea typeface="Segoe UI"/>
                <a:cs typeface="Segoe UI"/>
              </a:defRPr>
            </a:lvl1pPr>
          </a:lstStyle>
          <a:p>
            <a:pPr algn="r"/>
            <a:fld id="{F7021451-1387-4CA6-816F-3879F97B5CBC}" type="slidenum">
              <a:rPr b="1"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Smart Faculty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Faculty — Soutenance</dc:title>
  <dc:subject>Présentation du projet Smart Faculty</dc:subject>
  <dc:creator>Grâce Yambo</dc:creator>
  <cp:lastModifiedBy>Grâce Yambo</cp:lastModifiedBy>
  <cp:revision>1</cp:revision>
  <dcterms:created xsi:type="dcterms:W3CDTF">2026-07-15T10:19:35Z</dcterms:created>
  <dcterms:modified xsi:type="dcterms:W3CDTF">2026-07-15T10:19:35Z</dcterms:modified>
</cp:coreProperties>
</file>